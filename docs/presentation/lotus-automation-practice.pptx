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700CF1-0DC3-4698-8CA3-38683147807E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B1FDD5-031E-4EEE-BB30-430DB180D2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9244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Здравствуйте. Я представляю проект Lotus, разработанный в рамках производственной практики. Lotus представляет собой веб-систему для цветочного магазина. Основное внимание в проекте уделено автоматизации внутренних процессов: от оформления заказа и резервирования цветов до работы склада, курьеров, сотрудников и журнала действий.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1FDD5-031E-4EEE-BB30-430DB180D2A5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15846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Основная проблема небольшого магазина состоит в том, что данные часто хранятся в разных местах. Заказы могут приниматься в переписке, остатки контролироваться вручную, а доставка обсуждаться отдельно. Это создаёт риск ошибок. Цель Lotus состоит в том, чтобы связать эти процессы и хранить их состояние в одной базе данных.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1FDD5-031E-4EEE-BB30-430DB180D2A5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79792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После оформления заказ проходит через последовательную цепочку. Сервер проверяет данные, актуальные цены и доступность цветов. Затем система резервирует необходимый состав. Сотрудник меняет статус заказа только через разрешённые переходы. Для доставки создаётся отдельная запись, а важные действия сохраняются в журнале.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1FDD5-031E-4EEE-BB30-430DB180D2A5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32921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Заказ нельзя произвольно перевести в любой статус. Сервер проверяет текущий статус, тип получения и состояние оплаты. Для самовывоза отсутствует этап доставки. Если заказ уже оплачен, сначала нужно оформить возврат. Изменение статуса, резервирование и связанные операции выполняются транзакционно.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1FDD5-031E-4EEE-BB30-430DB180D2A5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43859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Складской учёт не ограничивается одним числом. Lotus различает физическое количество и доступный остаток. После подтверждения заказа цветы резервируются, поэтому другой заказ не сможет использовать то же количество. При отмене резерв освобождается. После выполнения система фиксирует фактическое списание.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1FDD5-031E-4EEE-BB30-430DB180D2A5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2292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Менеджер склада создаёт документ поступления и добавляет позиции поставщика. Пока документ находится в черновике, остатки не меняются. При проведении система увеличивает количество цветов, создаёт складские движения и пересчитывает закупочную цену. Повторно провести тот же документ нельзя.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1FDD5-031E-4EEE-BB30-430DB180D2A5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33548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Стоимость заказа рассчитывает сервер. Для авторского букета сервер повторно получает актуальные цены цветов и упаковки. При изменении стоимости доставки пересчитывается итог заказа и ожидающий платёж. Для проверки базы создан отдельный read-only скрипт финансовой целостности.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1FDD5-031E-4EEE-BB30-430DB180D2A5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45894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Самовывоз и доставка имеют разные процессы. Для доставки менеджер назначает сотрудника с ролью курьера. Курьер получает ограниченную страницу и видит только собственные назначения. Он может последовательно отметить начало пути и завершение доставки. Сервер повторно проверяет принадлежность каждой доставки.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1FDD5-031E-4EEE-BB30-430DB180D2A5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23658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В системе отсутствует общий пароль для всех сотрудников. Каждый сотрудник входит по личному телефону и паролю. Права определяются назначенными ролями. Проверки выполняются не только в интерфейсе, но и на сервере. Изменение роли, сброс пароля или отключение сотрудника отзывает его активные сессии.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1FDD5-031E-4EEE-BB30-430DB180D2A5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36581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Конструктор связан со складом, поэтому покупатель работает не с отдельным демонстрационным списком, а с активными цветами магазина. После добавления букета в корзину сервер повторно проверяет позиции и цены. В заказ сохраняется снимок состава, благодаря чему история остаётся корректной даже после изменения каталога.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1FDD5-031E-4EEE-BB30-430DB180D2A5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60897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Lotus построен на Next.js и PostgreSQL. Бизнес-правила находятся на сервере, а критические изменения выполняются внутри транзакций. Проверки прав централизованы. Файлы изображений и 3D-моделей хранятся отдельно от исходного кода и должны резервироваться вместе с базой данных.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1FDD5-031E-4EEE-BB30-430DB180D2A5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73677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В результате практики получилась не только витрина цветочного магазина, но и система управления его основными процессами. Lotus связывает заказ, склад, оплату, доставку и действия сотрудников. Следующим этапом станет подготовка проекта к стабильному развёртыванию и работе с растущим количеством данных.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1FDD5-031E-4EEE-BB30-430DB180D2A5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0473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C5BEA4-7D48-4A3D-93AA-2225C45FE7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EA7FD8C-E2DD-4840-B589-EBA524362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4B28AA-5601-40AF-AAF8-E554F170C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02154-0000-4D64-A55C-A060319FD4EE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A1618F-A000-42D4-B751-1517BF996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146137-0AA8-4526-9E03-B57E915DB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17E04-75DE-4B56-A08E-4C93012338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0421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396634-FB48-4B38-B903-D3C6B5232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8DD637-8ADC-44E7-81D5-B4D3D4569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5DA24E-E934-42C3-B573-5751C147F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02154-0000-4D64-A55C-A060319FD4EE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8367A5-FA1F-4B73-B32D-57969ACFB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BF5F5D-4793-44BA-8CC7-202AB5A7E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17E04-75DE-4B56-A08E-4C93012338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5493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0C52B1-D818-48D6-AC74-CEBF13559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E8E32AD-8FD6-42A0-B309-6EFB2B1CC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55A77F-F0A7-482C-8F1F-6D583DC4F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02154-0000-4D64-A55C-A060319FD4EE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E84E106-0016-4FFC-B9DC-BC6CC6EF4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181AB9F-E645-46AC-9E76-1740A665F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17E04-75DE-4B56-A08E-4C93012338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8715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DC0D3E-B590-4BCD-B155-AF6F92D62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882A70-55E8-4425-8845-A9A8243078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0F10F7A-1489-4773-8E11-58A98C93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59F5C9D-6392-4342-811D-E6AB78BA4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02154-0000-4D64-A55C-A060319FD4EE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0B3B85D-400F-4018-AE8C-28456B072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A3B5C0F-5BBB-42A0-AFBA-11C81E43B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17E04-75DE-4B56-A08E-4C93012338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750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58FA76-34C6-4C0E-BA28-17B1F7824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4EF64A7-067F-427C-955B-E32F0AB747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CEFBDF9-8456-431D-873B-CBA5DAE465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2C4AD2D-2D3C-4FC6-AE1F-3AABBC7D32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08F1B44-8A25-463D-9665-D674101F8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1F52449-571E-47B1-A7B5-1BFC4818E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02154-0000-4D64-A55C-A060319FD4EE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1933778-E0D4-4F2B-A579-57D4FC700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CFCC932-7DF6-49DD-8D5D-ACB5CA6B2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17E04-75DE-4B56-A08E-4C93012338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0462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0ACD1A-4CB0-4769-A094-04BAEF2A6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D37BF98-E5F1-4518-BF73-17AE6C662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02154-0000-4D64-A55C-A060319FD4EE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668D80B-9221-4BD2-B760-F90A13AE4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FA37D9C-5862-489D-BEE3-FFA5C68E7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17E04-75DE-4B56-A08E-4C93012338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197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9D96257-DB59-495B-BE50-FD065EF32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02154-0000-4D64-A55C-A060319FD4EE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70CD75E-71CA-43A7-8E24-ECA3C06EE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E310ED8-28C2-402A-AF0E-1D30D775C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17E04-75DE-4B56-A08E-4C93012338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3203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84837B-3D72-426F-8417-F46385E09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6EE231-F205-4925-BD75-096696D2B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E28B817-0854-4709-8470-2B7C193F31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AE62F11-A117-435E-9EAF-40A82AA52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02154-0000-4D64-A55C-A060319FD4EE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5B4F55E-DB25-4D96-8801-05568E8D2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58D47C7-731C-4A51-91C4-1057B96D7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17E04-75DE-4B56-A08E-4C93012338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9246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8E7DF1-3D24-456D-916E-042F62D6B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6DC8DE6-FF5D-4F22-A9D4-165ED127A3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24143E8-8994-4F3F-A21B-2A06994567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CB6716C-2D25-48A8-9A03-3B1A0F20E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02154-0000-4D64-A55C-A060319FD4EE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14A3AC2-3C0C-456E-8C64-BAB1E4CFD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4F9A549-5755-45C0-90FF-0A5DB448D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17E04-75DE-4B56-A08E-4C93012338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2703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C6F077-59E9-42B1-B62F-FD971CDD4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D0CCA30-4F70-466D-B240-94018B8207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C1544F1-4134-41F4-8813-F1D3F2225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02154-0000-4D64-A55C-A060319FD4EE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A0A0C7C-7A97-464A-9F09-17507579A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13F427-95EE-4F7A-8775-918C9A9AC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17E04-75DE-4B56-A08E-4C93012338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9733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FC3B19B-D94A-4838-A166-2D9A2FEEF0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85B5FC3-C8CA-4D34-945D-2F817B43E4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9FAC89-B13A-42C7-8BF1-E2539E7C0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02154-0000-4D64-A55C-A060319FD4EE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6398BAB-5D6F-41CA-A313-3AB0F82B1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E962E2-EAB2-440C-9BE2-056EA017C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17E04-75DE-4B56-A08E-4C93012338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0219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AF3212-EB32-42EF-9E17-88DC8521F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ABC74E1-4D9F-4BC5-9C14-8623D7668C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9EB9D3-2034-414E-A95C-0E3D7DA2BA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302154-0000-4D64-A55C-A060319FD4EE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F0B54F-32D0-4DE9-8EC7-D1A65DB2DD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F73862-4BA7-4DC6-8DEB-525DB420BE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17E04-75DE-4B56-A08E-4C93012338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5170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C37D80F-AC37-43E3-8591-96D28B3CEFF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" y="384048"/>
            <a:ext cx="960120" cy="5029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7BDD75-8031-4DFC-A482-004B33B1C2A8}"/>
              </a:ext>
            </a:extLst>
          </p:cNvPr>
          <p:cNvSpPr txBox="1"/>
          <p:nvPr/>
        </p:nvSpPr>
        <p:spPr>
          <a:xfrm>
            <a:off x="1691640" y="457200"/>
            <a:ext cx="1417320" cy="455509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en-US" sz="2000" b="1">
                <a:solidFill>
                  <a:srgbClr val="342622"/>
                </a:solidFill>
                <a:latin typeface="Georgia" panose="02040502050405020303" pitchFamily="18" charset="0"/>
              </a:rPr>
              <a:t>LOTUS</a:t>
            </a:r>
            <a:endParaRPr lang="ru-RU" sz="2000" b="1">
              <a:solidFill>
                <a:srgbClr val="342622"/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2F051D-AD7D-445C-B47C-9A9FB4D598B4}"/>
              </a:ext>
            </a:extLst>
          </p:cNvPr>
          <p:cNvSpPr txBox="1"/>
          <p:nvPr/>
        </p:nvSpPr>
        <p:spPr>
          <a:xfrm>
            <a:off x="777240" y="1417320"/>
            <a:ext cx="5760720" cy="2086725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4200">
                <a:solidFill>
                  <a:srgbClr val="342622"/>
                </a:solidFill>
                <a:latin typeface="Georgia" panose="02040502050405020303" pitchFamily="18" charset="0"/>
              </a:rPr>
              <a:t>Автоматизация
цветочного магазина </a:t>
            </a:r>
            <a:r>
              <a:rPr lang="en-US" sz="4200">
                <a:solidFill>
                  <a:srgbClr val="342622"/>
                </a:solidFill>
                <a:latin typeface="Georgia" panose="02040502050405020303" pitchFamily="18" charset="0"/>
              </a:rPr>
              <a:t>Lotus</a:t>
            </a:r>
            <a:endParaRPr lang="ru-RU" sz="4200">
              <a:solidFill>
                <a:srgbClr val="342622"/>
              </a:solidFill>
              <a:latin typeface="Georgia" panose="02040502050405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230768-A108-4C4E-8E5E-8BFB161D6309}"/>
              </a:ext>
            </a:extLst>
          </p:cNvPr>
          <p:cNvSpPr txBox="1"/>
          <p:nvPr/>
        </p:nvSpPr>
        <p:spPr>
          <a:xfrm>
            <a:off x="804672" y="3730752"/>
            <a:ext cx="5212080" cy="732508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900">
                <a:solidFill>
                  <a:srgbClr val="806E68"/>
                </a:solidFill>
                <a:latin typeface="Arial" panose="020B0604020202020204" pitchFamily="34" charset="0"/>
              </a:rPr>
              <a:t>Система управления заказами, складом,
доставкой и персоналом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A7741D58-5A82-4D25-97EC-8A880166E6BD}"/>
              </a:ext>
            </a:extLst>
          </p:cNvPr>
          <p:cNvCxnSpPr/>
          <p:nvPr/>
        </p:nvCxnSpPr>
        <p:spPr>
          <a:xfrm>
            <a:off x="804672" y="4617720"/>
            <a:ext cx="4361688" cy="0"/>
          </a:xfrm>
          <a:prstGeom prst="line">
            <a:avLst/>
          </a:prstGeom>
          <a:ln w="27940">
            <a:solidFill>
              <a:srgbClr val="F4CB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FD6B641-C963-44C4-8621-54419DD077B4}"/>
              </a:ext>
            </a:extLst>
          </p:cNvPr>
          <p:cNvSpPr txBox="1"/>
          <p:nvPr/>
        </p:nvSpPr>
        <p:spPr>
          <a:xfrm>
            <a:off x="804672" y="4846320"/>
            <a:ext cx="5303520" cy="1009507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400">
                <a:solidFill>
                  <a:srgbClr val="342622"/>
                </a:solidFill>
                <a:latin typeface="Arial" panose="020B0604020202020204" pitchFamily="34" charset="0"/>
              </a:rPr>
              <a:t>Шарифов Тигран
Филиал МГУ им. М.В. Ломоносова в Душанбе
Прикладная математика и информатика, 3 курс
2026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5E06394D-B016-4A5A-B280-FCEBE850ADF2}"/>
              </a:ext>
            </a:extLst>
          </p:cNvPr>
          <p:cNvSpPr/>
          <p:nvPr/>
        </p:nvSpPr>
        <p:spPr>
          <a:xfrm>
            <a:off x="6446520" y="786384"/>
            <a:ext cx="4983480" cy="5394960"/>
          </a:xfrm>
          <a:prstGeom prst="roundRect">
            <a:avLst/>
          </a:prstGeom>
          <a:solidFill>
            <a:srgbClr val="F4CBC4"/>
          </a:solidFill>
          <a:ln w="10160">
            <a:solidFill>
              <a:srgbClr val="F4CB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59888559-1726-4394-B6EF-D5668C595C3B}"/>
              </a:ext>
            </a:extLst>
          </p:cNvPr>
          <p:cNvSpPr/>
          <p:nvPr/>
        </p:nvSpPr>
        <p:spPr>
          <a:xfrm>
            <a:off x="6931152" y="1243584"/>
            <a:ext cx="4069080" cy="406908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FD2B8BE-97FF-4FFF-82A7-60A722C80DF6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6832" y="1060704"/>
            <a:ext cx="4480560" cy="409651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80E77F3-1E82-4E67-9A16-A086A43A1A7D}"/>
              </a:ext>
            </a:extLst>
          </p:cNvPr>
          <p:cNvSpPr txBox="1"/>
          <p:nvPr/>
        </p:nvSpPr>
        <p:spPr>
          <a:xfrm>
            <a:off x="6903720" y="5632704"/>
            <a:ext cx="4206240" cy="794064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400" i="1">
                <a:solidFill>
                  <a:srgbClr val="B85D70"/>
                </a:solidFill>
                <a:latin typeface="Arial" panose="020B0604020202020204" pitchFamily="34" charset="0"/>
              </a:rPr>
              <a:t>Система, в которой
процессы магазина связаны
одной базой данных</a:t>
            </a:r>
          </a:p>
        </p:txBody>
      </p:sp>
    </p:spTree>
    <p:extLst>
      <p:ext uri="{BB962C8B-B14F-4D97-AF65-F5344CB8AC3E}">
        <p14:creationId xmlns:p14="http://schemas.microsoft.com/office/powerpoint/2010/main" val="43411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3BF6E3-BF56-4A0C-B623-CFD69660A133}"/>
              </a:ext>
            </a:extLst>
          </p:cNvPr>
          <p:cNvSpPr txBox="1"/>
          <p:nvPr/>
        </p:nvSpPr>
        <p:spPr>
          <a:xfrm>
            <a:off x="594360" y="438912"/>
            <a:ext cx="3657600" cy="301621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000" b="1">
                <a:solidFill>
                  <a:srgbClr val="B85D70"/>
                </a:solidFill>
                <a:latin typeface="Arial" panose="020B0604020202020204" pitchFamily="34" charset="0"/>
              </a:rPr>
              <a:t>КОНТЕКСТ ПРАКТИКИ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CAFDEE-9089-4E98-A56C-9FA155A61883}"/>
              </a:ext>
            </a:extLst>
          </p:cNvPr>
          <p:cNvSpPr txBox="1"/>
          <p:nvPr/>
        </p:nvSpPr>
        <p:spPr>
          <a:xfrm>
            <a:off x="594360" y="713232"/>
            <a:ext cx="10241280" cy="624786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3100">
                <a:solidFill>
                  <a:srgbClr val="342622"/>
                </a:solidFill>
                <a:latin typeface="Georgia" panose="02040502050405020303" pitchFamily="18" charset="0"/>
              </a:rPr>
              <a:t>Задача автоматизации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8648EFCA-DEB7-49D8-BCDC-A3D77ACB58B1}"/>
              </a:ext>
            </a:extLst>
          </p:cNvPr>
          <p:cNvCxnSpPr/>
          <p:nvPr/>
        </p:nvCxnSpPr>
        <p:spPr>
          <a:xfrm>
            <a:off x="594360" y="1389888"/>
            <a:ext cx="10972800" cy="0"/>
          </a:xfrm>
          <a:prstGeom prst="line">
            <a:avLst/>
          </a:prstGeom>
          <a:ln w="15240">
            <a:solidFill>
              <a:srgbClr val="F4CB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FB65E74-053B-4385-93EF-81941B776497}"/>
              </a:ext>
            </a:extLst>
          </p:cNvPr>
          <p:cNvSpPr txBox="1"/>
          <p:nvPr/>
        </p:nvSpPr>
        <p:spPr>
          <a:xfrm>
            <a:off x="10835640" y="6510528"/>
            <a:ext cx="822960" cy="286232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r"/>
            <a:r>
              <a:rPr lang="en-US" sz="900" b="1">
                <a:solidFill>
                  <a:srgbClr val="B85D70"/>
                </a:solidFill>
                <a:latin typeface="Arial" panose="020B0604020202020204" pitchFamily="34" charset="0"/>
              </a:rPr>
              <a:t>LOTUS</a:t>
            </a:r>
            <a:endParaRPr lang="ru-RU" sz="900" b="1">
              <a:solidFill>
                <a:srgbClr val="B85D70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9CE78E-F837-487C-835B-1524EEB546ED}"/>
              </a:ext>
            </a:extLst>
          </p:cNvPr>
          <p:cNvSpPr txBox="1"/>
          <p:nvPr/>
        </p:nvSpPr>
        <p:spPr>
          <a:xfrm>
            <a:off x="438912" y="6510528"/>
            <a:ext cx="320040" cy="286232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900" b="1">
                <a:solidFill>
                  <a:srgbClr val="806E68"/>
                </a:solidFill>
                <a:latin typeface="Arial" panose="020B0604020202020204" pitchFamily="34" charset="0"/>
              </a:rPr>
              <a:t>02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F871FF-228D-4B04-8D02-FE5F3A25F519}"/>
              </a:ext>
            </a:extLst>
          </p:cNvPr>
          <p:cNvSpPr txBox="1"/>
          <p:nvPr/>
        </p:nvSpPr>
        <p:spPr>
          <a:xfrm>
            <a:off x="658368" y="1700784"/>
            <a:ext cx="4846320" cy="978729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b="1">
                <a:solidFill>
                  <a:srgbClr val="342622"/>
                </a:solidFill>
                <a:latin typeface="Arial" panose="020B0604020202020204" pitchFamily="34" charset="0"/>
              </a:rPr>
              <a:t>Без единой системы сотрудники вынуждены
отдельно контролировать: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0FCA51E0-2320-4045-BE87-CEE7C9DB5127}"/>
              </a:ext>
            </a:extLst>
          </p:cNvPr>
          <p:cNvSpPr/>
          <p:nvPr/>
        </p:nvSpPr>
        <p:spPr>
          <a:xfrm>
            <a:off x="749808" y="2688336"/>
            <a:ext cx="91440" cy="91440"/>
          </a:xfrm>
          <a:prstGeom prst="ellipse">
            <a:avLst/>
          </a:prstGeom>
          <a:solidFill>
            <a:srgbClr val="C97D72"/>
          </a:solidFill>
          <a:ln w="10160">
            <a:solidFill>
              <a:srgbClr val="C97D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7B2AA3-E06A-47D0-A20D-C928C50FBCBD}"/>
              </a:ext>
            </a:extLst>
          </p:cNvPr>
          <p:cNvSpPr txBox="1"/>
          <p:nvPr/>
        </p:nvSpPr>
        <p:spPr>
          <a:xfrm>
            <a:off x="950976" y="2633472"/>
            <a:ext cx="4370832" cy="393954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600">
                <a:solidFill>
                  <a:srgbClr val="342622"/>
                </a:solidFill>
                <a:latin typeface="Arial" panose="020B0604020202020204" pitchFamily="34" charset="0"/>
              </a:rPr>
              <a:t>заказы покупателей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8F1FB0A5-8D57-4D31-AEB2-F4EB24603CB0}"/>
              </a:ext>
            </a:extLst>
          </p:cNvPr>
          <p:cNvSpPr/>
          <p:nvPr/>
        </p:nvSpPr>
        <p:spPr>
          <a:xfrm>
            <a:off x="749808" y="2999232"/>
            <a:ext cx="91440" cy="91440"/>
          </a:xfrm>
          <a:prstGeom prst="ellipse">
            <a:avLst/>
          </a:prstGeom>
          <a:solidFill>
            <a:srgbClr val="C97D72"/>
          </a:solidFill>
          <a:ln w="10160">
            <a:solidFill>
              <a:srgbClr val="C97D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265114-DF1B-44EF-A9A9-BCA08FA1F66C}"/>
              </a:ext>
            </a:extLst>
          </p:cNvPr>
          <p:cNvSpPr txBox="1"/>
          <p:nvPr/>
        </p:nvSpPr>
        <p:spPr>
          <a:xfrm>
            <a:off x="950976" y="2944368"/>
            <a:ext cx="4370832" cy="393954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600">
                <a:solidFill>
                  <a:srgbClr val="342622"/>
                </a:solidFill>
                <a:latin typeface="Arial" panose="020B0604020202020204" pitchFamily="34" charset="0"/>
              </a:rPr>
              <a:t>наличие и резерв цветов</a:t>
            </a: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69490FFF-85F1-4842-983C-E3F4C3BBF1FB}"/>
              </a:ext>
            </a:extLst>
          </p:cNvPr>
          <p:cNvSpPr/>
          <p:nvPr/>
        </p:nvSpPr>
        <p:spPr>
          <a:xfrm>
            <a:off x="749808" y="3310128"/>
            <a:ext cx="91440" cy="91440"/>
          </a:xfrm>
          <a:prstGeom prst="ellipse">
            <a:avLst/>
          </a:prstGeom>
          <a:solidFill>
            <a:srgbClr val="C97D72"/>
          </a:solidFill>
          <a:ln w="10160">
            <a:solidFill>
              <a:srgbClr val="C97D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9154DB-ED6C-45A3-B54D-A67DB70F4203}"/>
              </a:ext>
            </a:extLst>
          </p:cNvPr>
          <p:cNvSpPr txBox="1"/>
          <p:nvPr/>
        </p:nvSpPr>
        <p:spPr>
          <a:xfrm>
            <a:off x="950976" y="3255264"/>
            <a:ext cx="4370832" cy="393954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600">
                <a:solidFill>
                  <a:srgbClr val="342622"/>
                </a:solidFill>
                <a:latin typeface="Arial" panose="020B0604020202020204" pitchFamily="34" charset="0"/>
              </a:rPr>
              <a:t>оплату и стоимость доставки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4503F691-9867-4290-A801-7D8EB45665AF}"/>
              </a:ext>
            </a:extLst>
          </p:cNvPr>
          <p:cNvSpPr/>
          <p:nvPr/>
        </p:nvSpPr>
        <p:spPr>
          <a:xfrm>
            <a:off x="749808" y="3621024"/>
            <a:ext cx="91440" cy="91440"/>
          </a:xfrm>
          <a:prstGeom prst="ellipse">
            <a:avLst/>
          </a:prstGeom>
          <a:solidFill>
            <a:srgbClr val="C97D72"/>
          </a:solidFill>
          <a:ln w="10160">
            <a:solidFill>
              <a:srgbClr val="C97D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E82CF7-3156-4DB8-85B4-66C98D2C7B6E}"/>
              </a:ext>
            </a:extLst>
          </p:cNvPr>
          <p:cNvSpPr txBox="1"/>
          <p:nvPr/>
        </p:nvSpPr>
        <p:spPr>
          <a:xfrm>
            <a:off x="950976" y="3566160"/>
            <a:ext cx="4370832" cy="393954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600">
                <a:solidFill>
                  <a:srgbClr val="342622"/>
                </a:solidFill>
                <a:latin typeface="Arial" panose="020B0604020202020204" pitchFamily="34" charset="0"/>
              </a:rPr>
              <a:t>закупки и поступления</a:t>
            </a: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E830FC12-1A04-42E7-8285-3FF47403A347}"/>
              </a:ext>
            </a:extLst>
          </p:cNvPr>
          <p:cNvSpPr/>
          <p:nvPr/>
        </p:nvSpPr>
        <p:spPr>
          <a:xfrm>
            <a:off x="749808" y="3931920"/>
            <a:ext cx="91440" cy="91440"/>
          </a:xfrm>
          <a:prstGeom prst="ellipse">
            <a:avLst/>
          </a:prstGeom>
          <a:solidFill>
            <a:srgbClr val="C97D72"/>
          </a:solidFill>
          <a:ln w="10160">
            <a:solidFill>
              <a:srgbClr val="C97D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60F907-C7A1-4A28-9DB0-7F9BE62D2DBD}"/>
              </a:ext>
            </a:extLst>
          </p:cNvPr>
          <p:cNvSpPr txBox="1"/>
          <p:nvPr/>
        </p:nvSpPr>
        <p:spPr>
          <a:xfrm>
            <a:off x="950976" y="3877056"/>
            <a:ext cx="4370832" cy="393954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600">
                <a:solidFill>
                  <a:srgbClr val="342622"/>
                </a:solidFill>
                <a:latin typeface="Arial" panose="020B0604020202020204" pitchFamily="34" charset="0"/>
              </a:rPr>
              <a:t>работу флористов и курьеров</a:t>
            </a: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8D871449-7ADE-4414-B952-EF4C0C328DB7}"/>
              </a:ext>
            </a:extLst>
          </p:cNvPr>
          <p:cNvSpPr/>
          <p:nvPr/>
        </p:nvSpPr>
        <p:spPr>
          <a:xfrm>
            <a:off x="749808" y="4242816"/>
            <a:ext cx="91440" cy="91440"/>
          </a:xfrm>
          <a:prstGeom prst="ellipse">
            <a:avLst/>
          </a:prstGeom>
          <a:solidFill>
            <a:srgbClr val="C97D72"/>
          </a:solidFill>
          <a:ln w="10160">
            <a:solidFill>
              <a:srgbClr val="C97D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6AB2F2-CBE6-424C-84D8-5FAC914321B9}"/>
              </a:ext>
            </a:extLst>
          </p:cNvPr>
          <p:cNvSpPr txBox="1"/>
          <p:nvPr/>
        </p:nvSpPr>
        <p:spPr>
          <a:xfrm>
            <a:off x="950976" y="4187952"/>
            <a:ext cx="4370832" cy="393954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600">
                <a:solidFill>
                  <a:srgbClr val="342622"/>
                </a:solidFill>
                <a:latin typeface="Arial" panose="020B0604020202020204" pitchFamily="34" charset="0"/>
              </a:rPr>
              <a:t>изменения сотрудников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79AF2FB6-8B94-43CE-A8C5-DE841177145E}"/>
              </a:ext>
            </a:extLst>
          </p:cNvPr>
          <p:cNvSpPr/>
          <p:nvPr/>
        </p:nvSpPr>
        <p:spPr>
          <a:xfrm>
            <a:off x="658368" y="4956048"/>
            <a:ext cx="5074920" cy="804672"/>
          </a:xfrm>
          <a:prstGeom prst="roundRect">
            <a:avLst/>
          </a:prstGeom>
          <a:solidFill>
            <a:srgbClr val="F8E7E2"/>
          </a:solidFill>
          <a:ln w="10160">
            <a:solidFill>
              <a:srgbClr val="F4CB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DEFE0A-148E-4302-907B-B62F5BC7F94A}"/>
              </a:ext>
            </a:extLst>
          </p:cNvPr>
          <p:cNvSpPr txBox="1"/>
          <p:nvPr/>
        </p:nvSpPr>
        <p:spPr>
          <a:xfrm>
            <a:off x="914400" y="5157216"/>
            <a:ext cx="4572000" cy="640175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600" b="1">
                <a:solidFill>
                  <a:srgbClr val="B85D70"/>
                </a:solidFill>
                <a:latin typeface="Arial" panose="020B0604020202020204" pitchFamily="34" charset="0"/>
              </a:rPr>
              <a:t>Цель: единая система
для операций магазина и контроля.</a:t>
            </a:r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9D45A02D-1720-4AC3-BB05-A5FF9CA7EDED}"/>
              </a:ext>
            </a:extLst>
          </p:cNvPr>
          <p:cNvSpPr/>
          <p:nvPr/>
        </p:nvSpPr>
        <p:spPr>
          <a:xfrm>
            <a:off x="6931152" y="1993392"/>
            <a:ext cx="1828800" cy="1828800"/>
          </a:xfrm>
          <a:prstGeom prst="ellipse">
            <a:avLst/>
          </a:prstGeom>
          <a:solidFill>
            <a:srgbClr val="F8E7E2"/>
          </a:solidFill>
          <a:ln w="10160">
            <a:solidFill>
              <a:srgbClr val="F4CB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D883044-C13A-41E1-844C-AD6474B602DB}"/>
              </a:ext>
            </a:extLst>
          </p:cNvPr>
          <p:cNvSpPr txBox="1"/>
          <p:nvPr/>
        </p:nvSpPr>
        <p:spPr>
          <a:xfrm>
            <a:off x="7187184" y="2642616"/>
            <a:ext cx="1325880" cy="347788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300" b="1">
                <a:solidFill>
                  <a:srgbClr val="B85D70"/>
                </a:solidFill>
                <a:latin typeface="Arial" panose="020B0604020202020204" pitchFamily="34" charset="0"/>
              </a:rPr>
              <a:t>МАГАЗИН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AD68170A-4079-4637-84EF-BBD1D3F8CF6D}"/>
              </a:ext>
            </a:extLst>
          </p:cNvPr>
          <p:cNvSpPr/>
          <p:nvPr/>
        </p:nvSpPr>
        <p:spPr>
          <a:xfrm>
            <a:off x="5998464" y="1508760"/>
            <a:ext cx="1417320" cy="566928"/>
          </a:xfrm>
          <a:prstGeom prst="roundRect">
            <a:avLst/>
          </a:prstGeom>
          <a:solidFill>
            <a:srgbClr val="F4CBC4"/>
          </a:solidFill>
          <a:ln w="10160">
            <a:solidFill>
              <a:srgbClr val="EAD8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09459DA-2C28-4977-B3FA-A014AA12EF3F}"/>
              </a:ext>
            </a:extLst>
          </p:cNvPr>
          <p:cNvSpPr txBox="1"/>
          <p:nvPr/>
        </p:nvSpPr>
        <p:spPr>
          <a:xfrm>
            <a:off x="5998464" y="1673352"/>
            <a:ext cx="1417320" cy="347788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300" b="1">
                <a:solidFill>
                  <a:srgbClr val="342622"/>
                </a:solidFill>
                <a:latin typeface="Arial" panose="020B0604020202020204" pitchFamily="34" charset="0"/>
              </a:rPr>
              <a:t>Заказы</a:t>
            </a:r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2ED93261-E8EF-443F-8EF3-725298A89DB7}"/>
              </a:ext>
            </a:extLst>
          </p:cNvPr>
          <p:cNvCxnSpPr/>
          <p:nvPr/>
        </p:nvCxnSpPr>
        <p:spPr>
          <a:xfrm flipH="1" flipV="1">
            <a:off x="6711696" y="2075688"/>
            <a:ext cx="1133856" cy="832104"/>
          </a:xfrm>
          <a:prstGeom prst="line">
            <a:avLst/>
          </a:prstGeom>
          <a:ln w="15240">
            <a:solidFill>
              <a:srgbClr val="C97D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DB75984C-41FC-449B-9315-A132B231EF7A}"/>
              </a:ext>
            </a:extLst>
          </p:cNvPr>
          <p:cNvSpPr/>
          <p:nvPr/>
        </p:nvSpPr>
        <p:spPr>
          <a:xfrm>
            <a:off x="8988552" y="1508760"/>
            <a:ext cx="141732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D8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FD23F9-2760-4A05-A576-5E2DD2330442}"/>
              </a:ext>
            </a:extLst>
          </p:cNvPr>
          <p:cNvSpPr txBox="1"/>
          <p:nvPr/>
        </p:nvSpPr>
        <p:spPr>
          <a:xfrm>
            <a:off x="8988552" y="1673352"/>
            <a:ext cx="1417320" cy="347788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300" b="1">
                <a:solidFill>
                  <a:srgbClr val="342622"/>
                </a:solidFill>
                <a:latin typeface="Arial" panose="020B0604020202020204" pitchFamily="34" charset="0"/>
              </a:rPr>
              <a:t>Склад</a:t>
            </a:r>
          </a:p>
        </p:txBody>
      </p: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3F4ECE3A-E25D-45C2-A12E-9A917A9BBBDC}"/>
              </a:ext>
            </a:extLst>
          </p:cNvPr>
          <p:cNvCxnSpPr/>
          <p:nvPr/>
        </p:nvCxnSpPr>
        <p:spPr>
          <a:xfrm flipV="1">
            <a:off x="7845552" y="2075688"/>
            <a:ext cx="1856232" cy="832104"/>
          </a:xfrm>
          <a:prstGeom prst="line">
            <a:avLst/>
          </a:prstGeom>
          <a:ln w="15240">
            <a:solidFill>
              <a:srgbClr val="C97D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95F24717-72AA-4909-9DC4-901DAF895457}"/>
              </a:ext>
            </a:extLst>
          </p:cNvPr>
          <p:cNvSpPr/>
          <p:nvPr/>
        </p:nvSpPr>
        <p:spPr>
          <a:xfrm>
            <a:off x="5687568" y="3913632"/>
            <a:ext cx="1417320" cy="566928"/>
          </a:xfrm>
          <a:prstGeom prst="roundRect">
            <a:avLst/>
          </a:prstGeom>
          <a:solidFill>
            <a:srgbClr val="F4CBC4"/>
          </a:solidFill>
          <a:ln w="10160">
            <a:solidFill>
              <a:srgbClr val="EAD8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33D0E2-88FE-4D98-8954-DB434DAD9799}"/>
              </a:ext>
            </a:extLst>
          </p:cNvPr>
          <p:cNvSpPr txBox="1"/>
          <p:nvPr/>
        </p:nvSpPr>
        <p:spPr>
          <a:xfrm>
            <a:off x="5687568" y="4078224"/>
            <a:ext cx="1417320" cy="347788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300" b="1">
                <a:solidFill>
                  <a:srgbClr val="342622"/>
                </a:solidFill>
                <a:latin typeface="Arial" panose="020B0604020202020204" pitchFamily="34" charset="0"/>
              </a:rPr>
              <a:t>Доставка</a:t>
            </a:r>
          </a:p>
        </p:txBody>
      </p: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F66D21A5-8474-4E07-9353-4746CA156E19}"/>
              </a:ext>
            </a:extLst>
          </p:cNvPr>
          <p:cNvCxnSpPr/>
          <p:nvPr/>
        </p:nvCxnSpPr>
        <p:spPr>
          <a:xfrm flipH="1">
            <a:off x="6400800" y="2907792"/>
            <a:ext cx="1444752" cy="1005840"/>
          </a:xfrm>
          <a:prstGeom prst="line">
            <a:avLst/>
          </a:prstGeom>
          <a:ln w="15240">
            <a:solidFill>
              <a:srgbClr val="C97D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8ABD9B21-710A-4DDF-B877-2B7356CEBEC6}"/>
              </a:ext>
            </a:extLst>
          </p:cNvPr>
          <p:cNvSpPr/>
          <p:nvPr/>
        </p:nvSpPr>
        <p:spPr>
          <a:xfrm>
            <a:off x="8869680" y="3913632"/>
            <a:ext cx="141732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D8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BA1392C-0232-4343-97C0-FE55A390E0EE}"/>
              </a:ext>
            </a:extLst>
          </p:cNvPr>
          <p:cNvSpPr txBox="1"/>
          <p:nvPr/>
        </p:nvSpPr>
        <p:spPr>
          <a:xfrm>
            <a:off x="8869680" y="4078224"/>
            <a:ext cx="1417320" cy="347788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300" b="1">
                <a:solidFill>
                  <a:srgbClr val="342622"/>
                </a:solidFill>
                <a:latin typeface="Arial" panose="020B0604020202020204" pitchFamily="34" charset="0"/>
              </a:rPr>
              <a:t>Персонал</a:t>
            </a:r>
          </a:p>
        </p:txBody>
      </p: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60583B7A-E740-4BA7-9A8C-9D8505B57FC1}"/>
              </a:ext>
            </a:extLst>
          </p:cNvPr>
          <p:cNvCxnSpPr/>
          <p:nvPr/>
        </p:nvCxnSpPr>
        <p:spPr>
          <a:xfrm>
            <a:off x="7845552" y="2907792"/>
            <a:ext cx="1737360" cy="1005840"/>
          </a:xfrm>
          <a:prstGeom prst="line">
            <a:avLst/>
          </a:prstGeom>
          <a:ln w="15240">
            <a:solidFill>
              <a:srgbClr val="C97D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F693246-DED5-4A61-ADE0-D2626CE8C916}"/>
              </a:ext>
            </a:extLst>
          </p:cNvPr>
          <p:cNvSpPr/>
          <p:nvPr/>
        </p:nvSpPr>
        <p:spPr>
          <a:xfrm>
            <a:off x="7232904" y="4818888"/>
            <a:ext cx="1417320" cy="566928"/>
          </a:xfrm>
          <a:prstGeom prst="roundRect">
            <a:avLst/>
          </a:prstGeom>
          <a:solidFill>
            <a:srgbClr val="F4CBC4"/>
          </a:solidFill>
          <a:ln w="10160">
            <a:solidFill>
              <a:srgbClr val="EAD8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042B548-F419-42CC-823D-DC62BF9496D7}"/>
              </a:ext>
            </a:extLst>
          </p:cNvPr>
          <p:cNvSpPr txBox="1"/>
          <p:nvPr/>
        </p:nvSpPr>
        <p:spPr>
          <a:xfrm>
            <a:off x="7232904" y="4983480"/>
            <a:ext cx="1417320" cy="347788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300" b="1">
                <a:solidFill>
                  <a:srgbClr val="342622"/>
                </a:solidFill>
                <a:latin typeface="Arial" panose="020B0604020202020204" pitchFamily="34" charset="0"/>
              </a:rPr>
              <a:t>Платежи</a:t>
            </a:r>
          </a:p>
        </p:txBody>
      </p: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DFD6376A-6482-4A35-8104-8F153E4E454A}"/>
              </a:ext>
            </a:extLst>
          </p:cNvPr>
          <p:cNvCxnSpPr/>
          <p:nvPr/>
        </p:nvCxnSpPr>
        <p:spPr>
          <a:xfrm>
            <a:off x="7845552" y="2907792"/>
            <a:ext cx="100584" cy="1911096"/>
          </a:xfrm>
          <a:prstGeom prst="line">
            <a:avLst/>
          </a:prstGeom>
          <a:ln w="15240">
            <a:solidFill>
              <a:srgbClr val="C97D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B268ED75-7E37-4E40-9FC5-95A3408B425A}"/>
              </a:ext>
            </a:extLst>
          </p:cNvPr>
          <p:cNvSpPr/>
          <p:nvPr/>
        </p:nvSpPr>
        <p:spPr>
          <a:xfrm>
            <a:off x="6510528" y="5522976"/>
            <a:ext cx="4526280" cy="475488"/>
          </a:xfrm>
          <a:prstGeom prst="roundRect">
            <a:avLst/>
          </a:prstGeom>
          <a:solidFill>
            <a:srgbClr val="C97D72"/>
          </a:solidFill>
          <a:ln w="10160">
            <a:solidFill>
              <a:srgbClr val="C97D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BCF234B-C7DE-4AC5-A968-5C205F8EAC17}"/>
              </a:ext>
            </a:extLst>
          </p:cNvPr>
          <p:cNvSpPr txBox="1"/>
          <p:nvPr/>
        </p:nvSpPr>
        <p:spPr>
          <a:xfrm>
            <a:off x="6629400" y="5650992"/>
            <a:ext cx="4279392" cy="363176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400" b="1">
                <a:solidFill>
                  <a:srgbClr val="FFFFFF"/>
                </a:solidFill>
                <a:latin typeface="Arial" panose="020B0604020202020204" pitchFamily="34" charset="0"/>
              </a:rPr>
              <a:t>Lotus связывает операции и их состояние</a:t>
            </a:r>
          </a:p>
        </p:txBody>
      </p:sp>
    </p:spTree>
    <p:extLst>
      <p:ext uri="{BB962C8B-B14F-4D97-AF65-F5344CB8AC3E}">
        <p14:creationId xmlns:p14="http://schemas.microsoft.com/office/powerpoint/2010/main" val="2698449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5A2E40-C68B-4516-A366-3ABA1E69DF38}"/>
              </a:ext>
            </a:extLst>
          </p:cNvPr>
          <p:cNvSpPr txBox="1"/>
          <p:nvPr/>
        </p:nvSpPr>
        <p:spPr>
          <a:xfrm>
            <a:off x="594360" y="438912"/>
            <a:ext cx="3657600" cy="301621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000" b="1">
                <a:solidFill>
                  <a:srgbClr val="B85D70"/>
                </a:solidFill>
                <a:latin typeface="Arial" panose="020B0604020202020204" pitchFamily="34" charset="0"/>
              </a:rPr>
              <a:t>ЕДИНЫЙ ПРОЦЕСС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F375A7-93C0-484A-8695-A28642E7AA81}"/>
              </a:ext>
            </a:extLst>
          </p:cNvPr>
          <p:cNvSpPr txBox="1"/>
          <p:nvPr/>
        </p:nvSpPr>
        <p:spPr>
          <a:xfrm>
            <a:off x="594360" y="713232"/>
            <a:ext cx="10241280" cy="624786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3100">
                <a:solidFill>
                  <a:srgbClr val="342622"/>
                </a:solidFill>
                <a:latin typeface="Georgia" panose="02040502050405020303" pitchFamily="18" charset="0"/>
              </a:rPr>
              <a:t>Путь заказа в системе Lotus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2841A19F-723D-4CBE-A70D-92A22E71756C}"/>
              </a:ext>
            </a:extLst>
          </p:cNvPr>
          <p:cNvCxnSpPr/>
          <p:nvPr/>
        </p:nvCxnSpPr>
        <p:spPr>
          <a:xfrm>
            <a:off x="594360" y="1389888"/>
            <a:ext cx="10972800" cy="0"/>
          </a:xfrm>
          <a:prstGeom prst="line">
            <a:avLst/>
          </a:prstGeom>
          <a:ln w="15240">
            <a:solidFill>
              <a:srgbClr val="F4CB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91F0A01-97CF-451E-BEDB-91A5C9B851F7}"/>
              </a:ext>
            </a:extLst>
          </p:cNvPr>
          <p:cNvSpPr txBox="1"/>
          <p:nvPr/>
        </p:nvSpPr>
        <p:spPr>
          <a:xfrm>
            <a:off x="10835640" y="6510528"/>
            <a:ext cx="822960" cy="286232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r"/>
            <a:r>
              <a:rPr lang="en-US" sz="900" b="1">
                <a:solidFill>
                  <a:srgbClr val="B85D70"/>
                </a:solidFill>
                <a:latin typeface="Arial" panose="020B0604020202020204" pitchFamily="34" charset="0"/>
              </a:rPr>
              <a:t>LOTUS</a:t>
            </a:r>
            <a:endParaRPr lang="ru-RU" sz="900" b="1">
              <a:solidFill>
                <a:srgbClr val="B85D70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F56313-C9B5-424E-8B7F-3CDEF15BECFA}"/>
              </a:ext>
            </a:extLst>
          </p:cNvPr>
          <p:cNvSpPr txBox="1"/>
          <p:nvPr/>
        </p:nvSpPr>
        <p:spPr>
          <a:xfrm>
            <a:off x="438912" y="6510528"/>
            <a:ext cx="320040" cy="286232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900" b="1">
                <a:solidFill>
                  <a:srgbClr val="806E68"/>
                </a:solidFill>
                <a:latin typeface="Arial" panose="020B0604020202020204" pitchFamily="34" charset="0"/>
              </a:rPr>
              <a:t>03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6362D5-D044-4C23-9757-45618476CE7A}"/>
              </a:ext>
            </a:extLst>
          </p:cNvPr>
          <p:cNvSpPr txBox="1"/>
          <p:nvPr/>
        </p:nvSpPr>
        <p:spPr>
          <a:xfrm>
            <a:off x="658368" y="1618488"/>
            <a:ext cx="10607040" cy="670953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700">
                <a:solidFill>
                  <a:srgbClr val="806E68"/>
                </a:solidFill>
                <a:latin typeface="Arial" panose="020B0604020202020204" pitchFamily="34" charset="0"/>
              </a:rPr>
              <a:t>Каждый этап изменяет связанные данные автоматически. Сервер проверяет допустимость переходов и сохраняет историю операций.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D9C91CBC-660D-400C-8BE7-FC958444E425}"/>
              </a:ext>
            </a:extLst>
          </p:cNvPr>
          <p:cNvCxnSpPr/>
          <p:nvPr/>
        </p:nvCxnSpPr>
        <p:spPr>
          <a:xfrm>
            <a:off x="914400" y="3255264"/>
            <a:ext cx="10058400" cy="0"/>
          </a:xfrm>
          <a:prstGeom prst="line">
            <a:avLst/>
          </a:prstGeom>
          <a:ln w="38100">
            <a:solidFill>
              <a:srgbClr val="F4CB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Овал 8">
            <a:extLst>
              <a:ext uri="{FF2B5EF4-FFF2-40B4-BE49-F238E27FC236}">
                <a16:creationId xmlns:a16="http://schemas.microsoft.com/office/drawing/2014/main" id="{68AC15E4-B939-4A6B-9F4D-EB2F81AD2E8F}"/>
              </a:ext>
            </a:extLst>
          </p:cNvPr>
          <p:cNvSpPr/>
          <p:nvPr/>
        </p:nvSpPr>
        <p:spPr>
          <a:xfrm>
            <a:off x="694944" y="2596896"/>
            <a:ext cx="713232" cy="7132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C97D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785554-81FB-4594-8CDC-CD0A7606AB27}"/>
              </a:ext>
            </a:extLst>
          </p:cNvPr>
          <p:cNvSpPr txBox="1"/>
          <p:nvPr/>
        </p:nvSpPr>
        <p:spPr>
          <a:xfrm>
            <a:off x="694944" y="2798064"/>
            <a:ext cx="713232" cy="332399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200" b="1">
                <a:solidFill>
                  <a:srgbClr val="B85D70"/>
                </a:solidFill>
                <a:latin typeface="Arial" panose="020B0604020202020204" pitchFamily="34" charset="0"/>
              </a:rPr>
              <a:t>01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1DEF79-8DDF-4267-8785-3AC60868E095}"/>
              </a:ext>
            </a:extLst>
          </p:cNvPr>
          <p:cNvSpPr txBox="1"/>
          <p:nvPr/>
        </p:nvSpPr>
        <p:spPr>
          <a:xfrm>
            <a:off x="310896" y="3657600"/>
            <a:ext cx="1481328" cy="324704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150" b="1">
                <a:solidFill>
                  <a:srgbClr val="342622"/>
                </a:solidFill>
                <a:latin typeface="Arial" panose="020B0604020202020204" pitchFamily="34" charset="0"/>
              </a:rPr>
              <a:t>Покупатель</a:t>
            </a: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D2EDD59B-13A9-4C1D-A921-A0B38EE02374}"/>
              </a:ext>
            </a:extLst>
          </p:cNvPr>
          <p:cNvSpPr/>
          <p:nvPr/>
        </p:nvSpPr>
        <p:spPr>
          <a:xfrm>
            <a:off x="2084832" y="2596896"/>
            <a:ext cx="713232" cy="7132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C97D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922F9A-3A74-44AF-8FEE-A5B8E1568DAD}"/>
              </a:ext>
            </a:extLst>
          </p:cNvPr>
          <p:cNvSpPr txBox="1"/>
          <p:nvPr/>
        </p:nvSpPr>
        <p:spPr>
          <a:xfrm>
            <a:off x="2084832" y="2798064"/>
            <a:ext cx="713232" cy="332399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200" b="1">
                <a:solidFill>
                  <a:srgbClr val="B85D70"/>
                </a:solidFill>
                <a:latin typeface="Arial" panose="020B0604020202020204" pitchFamily="34" charset="0"/>
              </a:rPr>
              <a:t>02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DB5405-347B-4C3E-A4B3-4D9D969E8D4F}"/>
              </a:ext>
            </a:extLst>
          </p:cNvPr>
          <p:cNvSpPr txBox="1"/>
          <p:nvPr/>
        </p:nvSpPr>
        <p:spPr>
          <a:xfrm>
            <a:off x="1700784" y="3657600"/>
            <a:ext cx="1481328" cy="501676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150" b="1">
                <a:solidFill>
                  <a:srgbClr val="342622"/>
                </a:solidFill>
                <a:latin typeface="Arial" panose="020B0604020202020204" pitchFamily="34" charset="0"/>
              </a:rPr>
              <a:t>Оформление
заказа</a:t>
            </a: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BDA79C23-B8E9-404E-86AB-B1426A408F80}"/>
              </a:ext>
            </a:extLst>
          </p:cNvPr>
          <p:cNvSpPr/>
          <p:nvPr/>
        </p:nvSpPr>
        <p:spPr>
          <a:xfrm>
            <a:off x="3474720" y="2596896"/>
            <a:ext cx="713232" cy="713232"/>
          </a:xfrm>
          <a:prstGeom prst="ellipse">
            <a:avLst/>
          </a:prstGeom>
          <a:solidFill>
            <a:srgbClr val="F8E7E2"/>
          </a:solidFill>
          <a:ln w="10160">
            <a:solidFill>
              <a:srgbClr val="C97D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BC10D0-1364-4D39-A704-1C2CD8DA972F}"/>
              </a:ext>
            </a:extLst>
          </p:cNvPr>
          <p:cNvSpPr txBox="1"/>
          <p:nvPr/>
        </p:nvSpPr>
        <p:spPr>
          <a:xfrm>
            <a:off x="3474720" y="2798064"/>
            <a:ext cx="713232" cy="332399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200" b="1">
                <a:solidFill>
                  <a:srgbClr val="B85D70"/>
                </a:solidFill>
                <a:latin typeface="Arial" panose="020B0604020202020204" pitchFamily="34" charset="0"/>
              </a:rPr>
              <a:t>03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200148-5991-4CDF-88EF-8C2CF2E769B8}"/>
              </a:ext>
            </a:extLst>
          </p:cNvPr>
          <p:cNvSpPr txBox="1"/>
          <p:nvPr/>
        </p:nvSpPr>
        <p:spPr>
          <a:xfrm>
            <a:off x="3090672" y="3657600"/>
            <a:ext cx="1481328" cy="678647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150" b="1">
                <a:solidFill>
                  <a:srgbClr val="342622"/>
                </a:solidFill>
                <a:latin typeface="Arial" panose="020B0604020202020204" pitchFamily="34" charset="0"/>
              </a:rPr>
              <a:t>Проверка
стоимости и наличия</a:t>
            </a: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43A3E045-517F-4650-9BDD-A74F78EDF17B}"/>
              </a:ext>
            </a:extLst>
          </p:cNvPr>
          <p:cNvSpPr/>
          <p:nvPr/>
        </p:nvSpPr>
        <p:spPr>
          <a:xfrm>
            <a:off x="4956048" y="2596896"/>
            <a:ext cx="713232" cy="713232"/>
          </a:xfrm>
          <a:prstGeom prst="ellipse">
            <a:avLst/>
          </a:prstGeom>
          <a:solidFill>
            <a:srgbClr val="F4CBC4"/>
          </a:solidFill>
          <a:ln w="10160">
            <a:solidFill>
              <a:srgbClr val="C97D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AE1771-61E6-498A-B449-342FDFBB8C7B}"/>
              </a:ext>
            </a:extLst>
          </p:cNvPr>
          <p:cNvSpPr txBox="1"/>
          <p:nvPr/>
        </p:nvSpPr>
        <p:spPr>
          <a:xfrm>
            <a:off x="4956048" y="2798064"/>
            <a:ext cx="713232" cy="332399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200" b="1">
                <a:solidFill>
                  <a:srgbClr val="B85D70"/>
                </a:solidFill>
                <a:latin typeface="Arial" panose="020B0604020202020204" pitchFamily="34" charset="0"/>
              </a:rPr>
              <a:t>04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F462D4-9A1C-4790-883A-8818601DF74C}"/>
              </a:ext>
            </a:extLst>
          </p:cNvPr>
          <p:cNvSpPr txBox="1"/>
          <p:nvPr/>
        </p:nvSpPr>
        <p:spPr>
          <a:xfrm>
            <a:off x="4572000" y="3657600"/>
            <a:ext cx="1481328" cy="501676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150" b="1">
                <a:solidFill>
                  <a:srgbClr val="342622"/>
                </a:solidFill>
                <a:latin typeface="Arial" panose="020B0604020202020204" pitchFamily="34" charset="0"/>
              </a:rPr>
              <a:t>Резервирование
цветов</a:t>
            </a:r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393EE6D5-830C-43CE-B9AD-2516EFB05B2A}"/>
              </a:ext>
            </a:extLst>
          </p:cNvPr>
          <p:cNvSpPr/>
          <p:nvPr/>
        </p:nvSpPr>
        <p:spPr>
          <a:xfrm>
            <a:off x="6510528" y="2596896"/>
            <a:ext cx="713232" cy="7132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C97D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122982-2D12-4C2A-AA42-0DCFD1D5CBB8}"/>
              </a:ext>
            </a:extLst>
          </p:cNvPr>
          <p:cNvSpPr txBox="1"/>
          <p:nvPr/>
        </p:nvSpPr>
        <p:spPr>
          <a:xfrm>
            <a:off x="6510528" y="2798064"/>
            <a:ext cx="713232" cy="332399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200" b="1">
                <a:solidFill>
                  <a:srgbClr val="B85D70"/>
                </a:solidFill>
                <a:latin typeface="Arial" panose="020B0604020202020204" pitchFamily="34" charset="0"/>
              </a:rPr>
              <a:t>05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825CFF8-A9E3-4CEF-949C-FB8D3D17B3DA}"/>
              </a:ext>
            </a:extLst>
          </p:cNvPr>
          <p:cNvSpPr txBox="1"/>
          <p:nvPr/>
        </p:nvSpPr>
        <p:spPr>
          <a:xfrm>
            <a:off x="6126480" y="3657600"/>
            <a:ext cx="1481328" cy="501676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150" b="1">
                <a:solidFill>
                  <a:srgbClr val="342622"/>
                </a:solidFill>
                <a:latin typeface="Arial" panose="020B0604020202020204" pitchFamily="34" charset="0"/>
              </a:rPr>
              <a:t>Работа
флориста</a:t>
            </a:r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698EA0F3-E3A3-424E-AF7A-5657D3C75170}"/>
              </a:ext>
            </a:extLst>
          </p:cNvPr>
          <p:cNvSpPr/>
          <p:nvPr/>
        </p:nvSpPr>
        <p:spPr>
          <a:xfrm>
            <a:off x="7955280" y="2596896"/>
            <a:ext cx="713232" cy="713232"/>
          </a:xfrm>
          <a:prstGeom prst="ellipse">
            <a:avLst/>
          </a:prstGeom>
          <a:solidFill>
            <a:srgbClr val="F4CBC4"/>
          </a:solidFill>
          <a:ln w="10160">
            <a:solidFill>
              <a:srgbClr val="C97D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4F9DB1-C2DD-48A4-84E8-903F9AAFE8D7}"/>
              </a:ext>
            </a:extLst>
          </p:cNvPr>
          <p:cNvSpPr txBox="1"/>
          <p:nvPr/>
        </p:nvSpPr>
        <p:spPr>
          <a:xfrm>
            <a:off x="7955280" y="2798064"/>
            <a:ext cx="713232" cy="332399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200" b="1">
                <a:solidFill>
                  <a:srgbClr val="B85D70"/>
                </a:solidFill>
                <a:latin typeface="Arial" panose="020B0604020202020204" pitchFamily="34" charset="0"/>
              </a:rPr>
              <a:t>06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E2D5497-2A1B-4BBC-994B-6DD3700B6BB5}"/>
              </a:ext>
            </a:extLst>
          </p:cNvPr>
          <p:cNvSpPr txBox="1"/>
          <p:nvPr/>
        </p:nvSpPr>
        <p:spPr>
          <a:xfrm>
            <a:off x="7571232" y="3657600"/>
            <a:ext cx="1481328" cy="501676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150" b="1">
                <a:solidFill>
                  <a:srgbClr val="342622"/>
                </a:solidFill>
                <a:latin typeface="Arial" panose="020B0604020202020204" pitchFamily="34" charset="0"/>
              </a:rPr>
              <a:t>Самовывоз
или доставка</a:t>
            </a:r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312F50E7-410C-4591-8FF2-D30A2C9B7417}"/>
              </a:ext>
            </a:extLst>
          </p:cNvPr>
          <p:cNvSpPr/>
          <p:nvPr/>
        </p:nvSpPr>
        <p:spPr>
          <a:xfrm>
            <a:off x="9564624" y="2596896"/>
            <a:ext cx="713232" cy="7132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C97D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3DAD6EF-602A-45CD-A30D-A8702FA1DD78}"/>
              </a:ext>
            </a:extLst>
          </p:cNvPr>
          <p:cNvSpPr txBox="1"/>
          <p:nvPr/>
        </p:nvSpPr>
        <p:spPr>
          <a:xfrm>
            <a:off x="9564624" y="2798064"/>
            <a:ext cx="713232" cy="332399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200" b="1">
                <a:solidFill>
                  <a:srgbClr val="B85D70"/>
                </a:solidFill>
                <a:latin typeface="Arial" panose="020B0604020202020204" pitchFamily="34" charset="0"/>
              </a:rPr>
              <a:t>07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7255A8D-84D9-44EC-9D29-227E01AEED61}"/>
              </a:ext>
            </a:extLst>
          </p:cNvPr>
          <p:cNvSpPr txBox="1"/>
          <p:nvPr/>
        </p:nvSpPr>
        <p:spPr>
          <a:xfrm>
            <a:off x="9180576" y="3657600"/>
            <a:ext cx="1481328" cy="501676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150" b="1">
                <a:solidFill>
                  <a:srgbClr val="342622"/>
                </a:solidFill>
                <a:latin typeface="Arial" panose="020B0604020202020204" pitchFamily="34" charset="0"/>
              </a:rPr>
              <a:t>Завершение
заказа</a:t>
            </a: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9B10032B-58B1-457C-A592-8A77B764BF11}"/>
              </a:ext>
            </a:extLst>
          </p:cNvPr>
          <p:cNvSpPr/>
          <p:nvPr/>
        </p:nvSpPr>
        <p:spPr>
          <a:xfrm>
            <a:off x="10963656" y="2596896"/>
            <a:ext cx="713232" cy="713232"/>
          </a:xfrm>
          <a:prstGeom prst="ellipse">
            <a:avLst/>
          </a:prstGeom>
          <a:solidFill>
            <a:srgbClr val="F8E7E2"/>
          </a:solidFill>
          <a:ln w="10160">
            <a:solidFill>
              <a:srgbClr val="C97D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2BFCFFD-356E-4040-A956-797DAE83A9EB}"/>
              </a:ext>
            </a:extLst>
          </p:cNvPr>
          <p:cNvSpPr txBox="1"/>
          <p:nvPr/>
        </p:nvSpPr>
        <p:spPr>
          <a:xfrm>
            <a:off x="10963656" y="2798064"/>
            <a:ext cx="713232" cy="332399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200" b="1">
                <a:solidFill>
                  <a:srgbClr val="B85D70"/>
                </a:solidFill>
                <a:latin typeface="Arial" panose="020B0604020202020204" pitchFamily="34" charset="0"/>
              </a:rPr>
              <a:t>08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E357DF-86A0-4D47-9413-301EAC43F9E3}"/>
              </a:ext>
            </a:extLst>
          </p:cNvPr>
          <p:cNvSpPr txBox="1"/>
          <p:nvPr/>
        </p:nvSpPr>
        <p:spPr>
          <a:xfrm>
            <a:off x="10579608" y="3657600"/>
            <a:ext cx="1481328" cy="501676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150" b="1">
                <a:solidFill>
                  <a:srgbClr val="342622"/>
                </a:solidFill>
                <a:latin typeface="Arial" panose="020B0604020202020204" pitchFamily="34" charset="0"/>
              </a:rPr>
              <a:t>История
и аудит</a:t>
            </a:r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8D04DD57-E16D-4648-9E90-173BF23426A0}"/>
              </a:ext>
            </a:extLst>
          </p:cNvPr>
          <p:cNvSpPr/>
          <p:nvPr/>
        </p:nvSpPr>
        <p:spPr>
          <a:xfrm>
            <a:off x="804672" y="4901184"/>
            <a:ext cx="3154680" cy="603504"/>
          </a:xfrm>
          <a:prstGeom prst="roundRect">
            <a:avLst/>
          </a:prstGeom>
          <a:solidFill>
            <a:srgbClr val="F4CBC4"/>
          </a:solidFill>
          <a:ln w="10160">
            <a:solidFill>
              <a:srgbClr val="F4CB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AE23E76-AE49-4A2A-9B6F-42726FB2C783}"/>
              </a:ext>
            </a:extLst>
          </p:cNvPr>
          <p:cNvSpPr txBox="1"/>
          <p:nvPr/>
        </p:nvSpPr>
        <p:spPr>
          <a:xfrm>
            <a:off x="960120" y="5102352"/>
            <a:ext cx="2834640" cy="578620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400" b="1">
                <a:solidFill>
                  <a:srgbClr val="342622"/>
                </a:solidFill>
                <a:latin typeface="Arial" panose="020B0604020202020204" pitchFamily="34" charset="0"/>
              </a:rPr>
              <a:t>Резервирование защищает остатки</a:t>
            </a:r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F4711891-EC54-4520-A960-26AF83B272E5}"/>
              </a:ext>
            </a:extLst>
          </p:cNvPr>
          <p:cNvSpPr/>
          <p:nvPr/>
        </p:nvSpPr>
        <p:spPr>
          <a:xfrm>
            <a:off x="4434840" y="4901184"/>
            <a:ext cx="3154680" cy="603504"/>
          </a:xfrm>
          <a:prstGeom prst="roundRect">
            <a:avLst/>
          </a:prstGeom>
          <a:solidFill>
            <a:srgbClr val="F8E7E2"/>
          </a:solidFill>
          <a:ln w="10160">
            <a:solidFill>
              <a:srgbClr val="F4CB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3C5198D-E5E0-4F44-AEC9-4416804D86F4}"/>
              </a:ext>
            </a:extLst>
          </p:cNvPr>
          <p:cNvSpPr txBox="1"/>
          <p:nvPr/>
        </p:nvSpPr>
        <p:spPr>
          <a:xfrm>
            <a:off x="4590288" y="5102352"/>
            <a:ext cx="2834640" cy="363176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400" b="1">
                <a:solidFill>
                  <a:srgbClr val="342622"/>
                </a:solidFill>
                <a:latin typeface="Arial" panose="020B0604020202020204" pitchFamily="34" charset="0"/>
              </a:rPr>
              <a:t>Доставка создаётся отдельно</a:t>
            </a:r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90615055-979F-4D05-9EF2-5EBC5F9B0796}"/>
              </a:ext>
            </a:extLst>
          </p:cNvPr>
          <p:cNvSpPr/>
          <p:nvPr/>
        </p:nvSpPr>
        <p:spPr>
          <a:xfrm>
            <a:off x="8065008" y="4901184"/>
            <a:ext cx="3154679" cy="603504"/>
          </a:xfrm>
          <a:prstGeom prst="roundRect">
            <a:avLst/>
          </a:prstGeom>
          <a:solidFill>
            <a:srgbClr val="C97D72"/>
          </a:solidFill>
          <a:ln w="10160">
            <a:solidFill>
              <a:srgbClr val="C97D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0EFFB7-1942-4D07-B80E-5C21D9EC4C29}"/>
              </a:ext>
            </a:extLst>
          </p:cNvPr>
          <p:cNvSpPr txBox="1"/>
          <p:nvPr/>
        </p:nvSpPr>
        <p:spPr>
          <a:xfrm>
            <a:off x="8220456" y="5102352"/>
            <a:ext cx="2834640" cy="363176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400" b="1">
                <a:solidFill>
                  <a:srgbClr val="FFFFFF"/>
                </a:solidFill>
                <a:latin typeface="Arial" panose="020B0604020202020204" pitchFamily="34" charset="0"/>
              </a:rPr>
              <a:t>Аудит сохраняет изменения</a:t>
            </a:r>
          </a:p>
        </p:txBody>
      </p:sp>
    </p:spTree>
    <p:extLst>
      <p:ext uri="{BB962C8B-B14F-4D97-AF65-F5344CB8AC3E}">
        <p14:creationId xmlns:p14="http://schemas.microsoft.com/office/powerpoint/2010/main" val="2404065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954956-AE7B-4B3E-94AC-6BCA26D994A2}"/>
              </a:ext>
            </a:extLst>
          </p:cNvPr>
          <p:cNvSpPr txBox="1"/>
          <p:nvPr/>
        </p:nvSpPr>
        <p:spPr>
          <a:xfrm>
            <a:off x="594360" y="438912"/>
            <a:ext cx="3657600" cy="301621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000" b="1">
                <a:solidFill>
                  <a:srgbClr val="B85D70"/>
                </a:solidFill>
                <a:latin typeface="Arial" panose="020B0604020202020204" pitchFamily="34" charset="0"/>
              </a:rPr>
              <a:t>ЗАКАЗЫ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915EBD-3B54-48ED-AE57-90CC0E596A93}"/>
              </a:ext>
            </a:extLst>
          </p:cNvPr>
          <p:cNvSpPr txBox="1"/>
          <p:nvPr/>
        </p:nvSpPr>
        <p:spPr>
          <a:xfrm>
            <a:off x="594360" y="713232"/>
            <a:ext cx="10241280" cy="624786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3100">
                <a:solidFill>
                  <a:srgbClr val="342622"/>
                </a:solidFill>
                <a:latin typeface="Georgia" panose="02040502050405020303" pitchFamily="18" charset="0"/>
              </a:rPr>
              <a:t>Управление жизненным циклом заказа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55097F3F-FF78-4AA5-9062-A5EE00904F7C}"/>
              </a:ext>
            </a:extLst>
          </p:cNvPr>
          <p:cNvCxnSpPr/>
          <p:nvPr/>
        </p:nvCxnSpPr>
        <p:spPr>
          <a:xfrm>
            <a:off x="594360" y="1389888"/>
            <a:ext cx="10972800" cy="0"/>
          </a:xfrm>
          <a:prstGeom prst="line">
            <a:avLst/>
          </a:prstGeom>
          <a:ln w="15240">
            <a:solidFill>
              <a:srgbClr val="F4CB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37B334C-75AF-4140-9A6E-5FA6AEF549DB}"/>
              </a:ext>
            </a:extLst>
          </p:cNvPr>
          <p:cNvSpPr txBox="1"/>
          <p:nvPr/>
        </p:nvSpPr>
        <p:spPr>
          <a:xfrm>
            <a:off x="10835640" y="6510528"/>
            <a:ext cx="822960" cy="286232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r"/>
            <a:r>
              <a:rPr lang="en-US" sz="900" b="1">
                <a:solidFill>
                  <a:srgbClr val="B85D70"/>
                </a:solidFill>
                <a:latin typeface="Arial" panose="020B0604020202020204" pitchFamily="34" charset="0"/>
              </a:rPr>
              <a:t>LOTUS</a:t>
            </a:r>
            <a:endParaRPr lang="ru-RU" sz="900" b="1">
              <a:solidFill>
                <a:srgbClr val="B85D70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57A52D-0293-4B76-AC80-DB3350A75023}"/>
              </a:ext>
            </a:extLst>
          </p:cNvPr>
          <p:cNvSpPr txBox="1"/>
          <p:nvPr/>
        </p:nvSpPr>
        <p:spPr>
          <a:xfrm>
            <a:off x="438912" y="6510528"/>
            <a:ext cx="320040" cy="286232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900" b="1">
                <a:solidFill>
                  <a:srgbClr val="806E68"/>
                </a:solidFill>
                <a:latin typeface="Arial" panose="020B0604020202020204" pitchFamily="34" charset="0"/>
              </a:rPr>
              <a:t>04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77A58B-F138-453E-A8CD-F90CABC12EB8}"/>
              </a:ext>
            </a:extLst>
          </p:cNvPr>
          <p:cNvSpPr txBox="1"/>
          <p:nvPr/>
        </p:nvSpPr>
        <p:spPr>
          <a:xfrm>
            <a:off x="658368" y="1627632"/>
            <a:ext cx="6583680" cy="670953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700">
                <a:solidFill>
                  <a:srgbClr val="806E68"/>
                </a:solidFill>
                <a:latin typeface="Arial" panose="020B0604020202020204" pitchFamily="34" charset="0"/>
              </a:rPr>
              <a:t>Переходы проверяются на сервере и связаны с резервом, доставкой и оплатой.</a:t>
            </a:r>
          </a:p>
        </p:txBody>
      </p:sp>
      <p:sp>
        <p:nvSpPr>
          <p:cNvPr id="8" name="Стрелка: шеврон 7">
            <a:extLst>
              <a:ext uri="{FF2B5EF4-FFF2-40B4-BE49-F238E27FC236}">
                <a16:creationId xmlns:a16="http://schemas.microsoft.com/office/drawing/2014/main" id="{6F9D1AB7-028A-4F32-B34A-479866CB9999}"/>
              </a:ext>
            </a:extLst>
          </p:cNvPr>
          <p:cNvSpPr/>
          <p:nvPr/>
        </p:nvSpPr>
        <p:spPr>
          <a:xfrm>
            <a:off x="749808" y="2761488"/>
            <a:ext cx="1234440" cy="603504"/>
          </a:xfrm>
          <a:prstGeom prst="chevron">
            <a:avLst/>
          </a:prstGeom>
          <a:solidFill>
            <a:srgbClr val="F4CBC4"/>
          </a:solidFill>
          <a:ln w="1016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63F749-A156-4500-96B1-4E19D8BEC934}"/>
              </a:ext>
            </a:extLst>
          </p:cNvPr>
          <p:cNvSpPr txBox="1"/>
          <p:nvPr/>
        </p:nvSpPr>
        <p:spPr>
          <a:xfrm>
            <a:off x="841248" y="2880360"/>
            <a:ext cx="1051560" cy="218521"/>
          </a:xfrm>
          <a:prstGeom prst="rect">
            <a:avLst/>
          </a:prstGeom>
          <a:noFill/>
        </p:spPr>
        <p:txBody>
          <a:bodyPr vert="horz" wrap="square" lIns="9144" tIns="9144" rIns="9144" bIns="9144" rtlCol="0" anchor="t">
            <a:spAutoFit/>
          </a:bodyPr>
          <a:lstStyle/>
          <a:p>
            <a:pPr algn="ctr"/>
            <a:r>
              <a:rPr lang="ru-RU" sz="1300" b="1">
                <a:solidFill>
                  <a:srgbClr val="342622"/>
                </a:solidFill>
                <a:latin typeface="Arial" panose="020B0604020202020204" pitchFamily="34" charset="0"/>
              </a:rPr>
              <a:t>Новый</a:t>
            </a:r>
          </a:p>
        </p:txBody>
      </p:sp>
      <p:sp>
        <p:nvSpPr>
          <p:cNvPr id="10" name="Стрелка: шеврон 9">
            <a:extLst>
              <a:ext uri="{FF2B5EF4-FFF2-40B4-BE49-F238E27FC236}">
                <a16:creationId xmlns:a16="http://schemas.microsoft.com/office/drawing/2014/main" id="{1344F2F7-AF37-4F8E-897A-DC1282094D04}"/>
              </a:ext>
            </a:extLst>
          </p:cNvPr>
          <p:cNvSpPr/>
          <p:nvPr/>
        </p:nvSpPr>
        <p:spPr>
          <a:xfrm>
            <a:off x="1984248" y="2761488"/>
            <a:ext cx="1325880" cy="603504"/>
          </a:xfrm>
          <a:prstGeom prst="chevron">
            <a:avLst/>
          </a:prstGeom>
          <a:solidFill>
            <a:srgbClr val="F4CBC4"/>
          </a:solidFill>
          <a:ln w="1016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4C2248-2CC9-4891-AC7B-CB612AFF0059}"/>
              </a:ext>
            </a:extLst>
          </p:cNvPr>
          <p:cNvSpPr txBox="1"/>
          <p:nvPr/>
        </p:nvSpPr>
        <p:spPr>
          <a:xfrm>
            <a:off x="2075688" y="2880360"/>
            <a:ext cx="1143000" cy="187744"/>
          </a:xfrm>
          <a:prstGeom prst="rect">
            <a:avLst/>
          </a:prstGeom>
          <a:noFill/>
        </p:spPr>
        <p:txBody>
          <a:bodyPr vert="horz" wrap="square" lIns="9144" tIns="9144" rIns="9144" bIns="9144" rtlCol="0" anchor="t">
            <a:spAutoFit/>
          </a:bodyPr>
          <a:lstStyle/>
          <a:p>
            <a:pPr algn="ctr"/>
            <a:r>
              <a:rPr lang="ru-RU" sz="1100" b="1">
                <a:solidFill>
                  <a:srgbClr val="342622"/>
                </a:solidFill>
                <a:latin typeface="Arial" panose="020B0604020202020204" pitchFamily="34" charset="0"/>
              </a:rPr>
              <a:t>Подтверждён</a:t>
            </a:r>
          </a:p>
        </p:txBody>
      </p:sp>
      <p:sp>
        <p:nvSpPr>
          <p:cNvPr id="12" name="Стрелка: шеврон 11">
            <a:extLst>
              <a:ext uri="{FF2B5EF4-FFF2-40B4-BE49-F238E27FC236}">
                <a16:creationId xmlns:a16="http://schemas.microsoft.com/office/drawing/2014/main" id="{8F9CACDC-3535-4EFB-92ED-BDE8B4D51F4A}"/>
              </a:ext>
            </a:extLst>
          </p:cNvPr>
          <p:cNvSpPr/>
          <p:nvPr/>
        </p:nvSpPr>
        <p:spPr>
          <a:xfrm>
            <a:off x="3310128" y="2761488"/>
            <a:ext cx="1298448" cy="603504"/>
          </a:xfrm>
          <a:prstGeom prst="chevron">
            <a:avLst/>
          </a:prstGeom>
          <a:solidFill>
            <a:srgbClr val="F4CBC4"/>
          </a:solidFill>
          <a:ln w="1016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35160A-AEF9-4E01-AA4B-21077A4B0E67}"/>
              </a:ext>
            </a:extLst>
          </p:cNvPr>
          <p:cNvSpPr txBox="1"/>
          <p:nvPr/>
        </p:nvSpPr>
        <p:spPr>
          <a:xfrm>
            <a:off x="3401568" y="2880360"/>
            <a:ext cx="1115568" cy="187744"/>
          </a:xfrm>
          <a:prstGeom prst="rect">
            <a:avLst/>
          </a:prstGeom>
          <a:noFill/>
        </p:spPr>
        <p:txBody>
          <a:bodyPr vert="horz" wrap="square" lIns="9144" tIns="9144" rIns="9144" bIns="9144" rtlCol="0" anchor="t">
            <a:spAutoFit/>
          </a:bodyPr>
          <a:lstStyle/>
          <a:p>
            <a:pPr algn="ctr"/>
            <a:r>
              <a:rPr lang="ru-RU" sz="1100" b="1">
                <a:solidFill>
                  <a:srgbClr val="342622"/>
                </a:solidFill>
                <a:latin typeface="Arial" panose="020B0604020202020204" pitchFamily="34" charset="0"/>
              </a:rPr>
              <a:t>Собирается</a:t>
            </a:r>
          </a:p>
        </p:txBody>
      </p:sp>
      <p:sp>
        <p:nvSpPr>
          <p:cNvPr id="14" name="Стрелка: шеврон 13">
            <a:extLst>
              <a:ext uri="{FF2B5EF4-FFF2-40B4-BE49-F238E27FC236}">
                <a16:creationId xmlns:a16="http://schemas.microsoft.com/office/drawing/2014/main" id="{3529C731-DD6A-4714-8633-D7A4A7673955}"/>
              </a:ext>
            </a:extLst>
          </p:cNvPr>
          <p:cNvSpPr/>
          <p:nvPr/>
        </p:nvSpPr>
        <p:spPr>
          <a:xfrm>
            <a:off x="4608576" y="2761488"/>
            <a:ext cx="1097280" cy="603504"/>
          </a:xfrm>
          <a:prstGeom prst="chevron">
            <a:avLst/>
          </a:prstGeom>
          <a:solidFill>
            <a:srgbClr val="F4CBC4"/>
          </a:solidFill>
          <a:ln w="1016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DDE68A-A446-4FC0-98ED-56B5B40B9267}"/>
              </a:ext>
            </a:extLst>
          </p:cNvPr>
          <p:cNvSpPr txBox="1"/>
          <p:nvPr/>
        </p:nvSpPr>
        <p:spPr>
          <a:xfrm>
            <a:off x="4700016" y="2880360"/>
            <a:ext cx="914400" cy="218521"/>
          </a:xfrm>
          <a:prstGeom prst="rect">
            <a:avLst/>
          </a:prstGeom>
          <a:noFill/>
        </p:spPr>
        <p:txBody>
          <a:bodyPr vert="horz" wrap="square" lIns="9144" tIns="9144" rIns="9144" bIns="9144" rtlCol="0" anchor="t">
            <a:spAutoFit/>
          </a:bodyPr>
          <a:lstStyle/>
          <a:p>
            <a:pPr algn="ctr"/>
            <a:r>
              <a:rPr lang="ru-RU" sz="1300" b="1">
                <a:solidFill>
                  <a:srgbClr val="342622"/>
                </a:solidFill>
                <a:latin typeface="Arial" panose="020B0604020202020204" pitchFamily="34" charset="0"/>
              </a:rPr>
              <a:t>Готов</a:t>
            </a:r>
          </a:p>
        </p:txBody>
      </p:sp>
      <p:sp>
        <p:nvSpPr>
          <p:cNvPr id="16" name="Стрелка: шеврон 15">
            <a:extLst>
              <a:ext uri="{FF2B5EF4-FFF2-40B4-BE49-F238E27FC236}">
                <a16:creationId xmlns:a16="http://schemas.microsoft.com/office/drawing/2014/main" id="{D847052B-656D-4D53-863A-A16CB6B71EB5}"/>
              </a:ext>
            </a:extLst>
          </p:cNvPr>
          <p:cNvSpPr/>
          <p:nvPr/>
        </p:nvSpPr>
        <p:spPr>
          <a:xfrm>
            <a:off x="5705856" y="2761488"/>
            <a:ext cx="1298448" cy="603504"/>
          </a:xfrm>
          <a:prstGeom prst="chevron">
            <a:avLst/>
          </a:prstGeom>
          <a:solidFill>
            <a:srgbClr val="F8E7E2"/>
          </a:solidFill>
          <a:ln w="1016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14F1CA-69B3-4673-A146-9218FD97D93B}"/>
              </a:ext>
            </a:extLst>
          </p:cNvPr>
          <p:cNvSpPr txBox="1"/>
          <p:nvPr/>
        </p:nvSpPr>
        <p:spPr>
          <a:xfrm>
            <a:off x="5797296" y="2880360"/>
            <a:ext cx="1115568" cy="180049"/>
          </a:xfrm>
          <a:prstGeom prst="rect">
            <a:avLst/>
          </a:prstGeom>
          <a:noFill/>
        </p:spPr>
        <p:txBody>
          <a:bodyPr vert="horz" wrap="square" lIns="9144" tIns="9144" rIns="9144" bIns="9144" rtlCol="0" anchor="t">
            <a:spAutoFit/>
          </a:bodyPr>
          <a:lstStyle/>
          <a:p>
            <a:pPr algn="ctr"/>
            <a:r>
              <a:rPr lang="ru-RU" sz="1050" b="1">
                <a:solidFill>
                  <a:srgbClr val="342622"/>
                </a:solidFill>
                <a:latin typeface="Arial" panose="020B0604020202020204" pitchFamily="34" charset="0"/>
              </a:rPr>
              <a:t>Доставляется</a:t>
            </a:r>
          </a:p>
        </p:txBody>
      </p:sp>
      <p:sp>
        <p:nvSpPr>
          <p:cNvPr id="18" name="Стрелка: шеврон 17">
            <a:extLst>
              <a:ext uri="{FF2B5EF4-FFF2-40B4-BE49-F238E27FC236}">
                <a16:creationId xmlns:a16="http://schemas.microsoft.com/office/drawing/2014/main" id="{9475B265-CC98-4CC1-AC50-D306B7070CFA}"/>
              </a:ext>
            </a:extLst>
          </p:cNvPr>
          <p:cNvSpPr/>
          <p:nvPr/>
        </p:nvSpPr>
        <p:spPr>
          <a:xfrm>
            <a:off x="7004304" y="2761488"/>
            <a:ext cx="1243584" cy="603504"/>
          </a:xfrm>
          <a:prstGeom prst="chevron">
            <a:avLst/>
          </a:prstGeom>
          <a:solidFill>
            <a:srgbClr val="C97D72"/>
          </a:solidFill>
          <a:ln w="1016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7489BD-5A49-4C3E-91C1-A81A2B4420D5}"/>
              </a:ext>
            </a:extLst>
          </p:cNvPr>
          <p:cNvSpPr txBox="1"/>
          <p:nvPr/>
        </p:nvSpPr>
        <p:spPr>
          <a:xfrm>
            <a:off x="7095744" y="2880360"/>
            <a:ext cx="1060704" cy="187744"/>
          </a:xfrm>
          <a:prstGeom prst="rect">
            <a:avLst/>
          </a:prstGeom>
          <a:noFill/>
        </p:spPr>
        <p:txBody>
          <a:bodyPr vert="horz" wrap="square" lIns="9144" tIns="9144" rIns="9144" bIns="9144" rtlCol="0" anchor="t">
            <a:spAutoFit/>
          </a:bodyPr>
          <a:lstStyle/>
          <a:p>
            <a:pPr algn="ctr"/>
            <a:r>
              <a:rPr lang="ru-RU" sz="1100" b="1">
                <a:solidFill>
                  <a:srgbClr val="FFFFFF"/>
                </a:solidFill>
                <a:latin typeface="Arial" panose="020B0604020202020204" pitchFamily="34" charset="0"/>
              </a:rPr>
              <a:t>Выполнен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51E180C6-C75B-4160-822C-AFDB085BB738}"/>
              </a:ext>
            </a:extLst>
          </p:cNvPr>
          <p:cNvCxnSpPr/>
          <p:nvPr/>
        </p:nvCxnSpPr>
        <p:spPr>
          <a:xfrm>
            <a:off x="4343400" y="3529584"/>
            <a:ext cx="0" cy="630936"/>
          </a:xfrm>
          <a:prstGeom prst="line">
            <a:avLst/>
          </a:prstGeom>
          <a:ln w="17780">
            <a:solidFill>
              <a:srgbClr val="C97D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D4EB1A1D-4270-4E8F-B3B4-35D6C8EEF330}"/>
              </a:ext>
            </a:extLst>
          </p:cNvPr>
          <p:cNvSpPr/>
          <p:nvPr/>
        </p:nvSpPr>
        <p:spPr>
          <a:xfrm>
            <a:off x="3703320" y="4160520"/>
            <a:ext cx="1280160" cy="566928"/>
          </a:xfrm>
          <a:prstGeom prst="roundRect">
            <a:avLst/>
          </a:prstGeom>
          <a:solidFill>
            <a:srgbClr val="F3E2E0"/>
          </a:solidFill>
          <a:ln w="10160">
            <a:solidFill>
              <a:srgbClr val="A45D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215A37-27F5-4C38-89B1-B703A15A401E}"/>
              </a:ext>
            </a:extLst>
          </p:cNvPr>
          <p:cNvSpPr txBox="1"/>
          <p:nvPr/>
        </p:nvSpPr>
        <p:spPr>
          <a:xfrm>
            <a:off x="3703320" y="4352544"/>
            <a:ext cx="1280160" cy="378565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500" b="1">
                <a:solidFill>
                  <a:srgbClr val="A45D69"/>
                </a:solidFill>
                <a:latin typeface="Arial" panose="020B0604020202020204" pitchFamily="34" charset="0"/>
              </a:rPr>
              <a:t>Отменён</a:t>
            </a: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335EBEC7-4D4E-47D5-913B-4E00F6015646}"/>
              </a:ext>
            </a:extLst>
          </p:cNvPr>
          <p:cNvSpPr/>
          <p:nvPr/>
        </p:nvSpPr>
        <p:spPr>
          <a:xfrm>
            <a:off x="8887968" y="2011680"/>
            <a:ext cx="2331721" cy="2971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D8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710EC5-A3B9-4864-B1BE-26637145EAA1}"/>
              </a:ext>
            </a:extLst>
          </p:cNvPr>
          <p:cNvSpPr txBox="1"/>
          <p:nvPr/>
        </p:nvSpPr>
        <p:spPr>
          <a:xfrm>
            <a:off x="9070848" y="2267712"/>
            <a:ext cx="1938528" cy="670953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700">
                <a:solidFill>
                  <a:srgbClr val="342622"/>
                </a:solidFill>
                <a:latin typeface="Georgia" panose="02040502050405020303" pitchFamily="18" charset="0"/>
              </a:rPr>
              <a:t>Правила переходов</a:t>
            </a:r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228D5520-E1A4-490B-9B7D-CBC11602977F}"/>
              </a:ext>
            </a:extLst>
          </p:cNvPr>
          <p:cNvSpPr/>
          <p:nvPr/>
        </p:nvSpPr>
        <p:spPr>
          <a:xfrm>
            <a:off x="9070848" y="2852928"/>
            <a:ext cx="91440" cy="91440"/>
          </a:xfrm>
          <a:prstGeom prst="ellipse">
            <a:avLst/>
          </a:prstGeom>
          <a:solidFill>
            <a:srgbClr val="C97D72"/>
          </a:solidFill>
          <a:ln w="10160">
            <a:solidFill>
              <a:srgbClr val="C97D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FE6621D-C44D-4368-823C-6D0A9D7F55C9}"/>
              </a:ext>
            </a:extLst>
          </p:cNvPr>
          <p:cNvSpPr txBox="1"/>
          <p:nvPr/>
        </p:nvSpPr>
        <p:spPr>
          <a:xfrm>
            <a:off x="9272016" y="2798064"/>
            <a:ext cx="1755648" cy="340093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250">
                <a:solidFill>
                  <a:srgbClr val="806E68"/>
                </a:solidFill>
                <a:latin typeface="Arial" panose="020B0604020202020204" pitchFamily="34" charset="0"/>
              </a:rPr>
              <a:t>следующий статус</a:t>
            </a:r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A06D6484-0852-4D80-BAED-3A1082A2BA0C}"/>
              </a:ext>
            </a:extLst>
          </p:cNvPr>
          <p:cNvSpPr/>
          <p:nvPr/>
        </p:nvSpPr>
        <p:spPr>
          <a:xfrm>
            <a:off x="9070848" y="3364992"/>
            <a:ext cx="91440" cy="91440"/>
          </a:xfrm>
          <a:prstGeom prst="ellipse">
            <a:avLst/>
          </a:prstGeom>
          <a:solidFill>
            <a:srgbClr val="C97D72"/>
          </a:solidFill>
          <a:ln w="10160">
            <a:solidFill>
              <a:srgbClr val="C97D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4F63C20-626B-42F6-B3AE-8D8C0DDD6768}"/>
              </a:ext>
            </a:extLst>
          </p:cNvPr>
          <p:cNvSpPr txBox="1"/>
          <p:nvPr/>
        </p:nvSpPr>
        <p:spPr>
          <a:xfrm>
            <a:off x="9272016" y="3310128"/>
            <a:ext cx="1755648" cy="532453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250">
                <a:solidFill>
                  <a:srgbClr val="806E68"/>
                </a:solidFill>
                <a:latin typeface="Arial" panose="020B0604020202020204" pitchFamily="34" charset="0"/>
              </a:rPr>
              <a:t>самовывоз без доставки</a:t>
            </a:r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CF36F98D-E68B-4F37-90AF-3699CBA0A9C5}"/>
              </a:ext>
            </a:extLst>
          </p:cNvPr>
          <p:cNvSpPr/>
          <p:nvPr/>
        </p:nvSpPr>
        <p:spPr>
          <a:xfrm>
            <a:off x="9070848" y="3877056"/>
            <a:ext cx="91440" cy="91440"/>
          </a:xfrm>
          <a:prstGeom prst="ellipse">
            <a:avLst/>
          </a:prstGeom>
          <a:solidFill>
            <a:srgbClr val="C97D72"/>
          </a:solidFill>
          <a:ln w="10160">
            <a:solidFill>
              <a:srgbClr val="C97D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E95096-B68B-4249-BB63-A55AFBF0E77A}"/>
              </a:ext>
            </a:extLst>
          </p:cNvPr>
          <p:cNvSpPr txBox="1"/>
          <p:nvPr/>
        </p:nvSpPr>
        <p:spPr>
          <a:xfrm>
            <a:off x="9272016" y="3822192"/>
            <a:ext cx="1755648" cy="532453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250">
                <a:solidFill>
                  <a:srgbClr val="806E68"/>
                </a:solidFill>
                <a:latin typeface="Arial" panose="020B0604020202020204" pitchFamily="34" charset="0"/>
              </a:rPr>
              <a:t>оплата: сначала возврат</a:t>
            </a:r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84510199-33C0-4116-B392-EBC679327C37}"/>
              </a:ext>
            </a:extLst>
          </p:cNvPr>
          <p:cNvSpPr/>
          <p:nvPr/>
        </p:nvSpPr>
        <p:spPr>
          <a:xfrm>
            <a:off x="9070848" y="4389120"/>
            <a:ext cx="91440" cy="91440"/>
          </a:xfrm>
          <a:prstGeom prst="ellipse">
            <a:avLst/>
          </a:prstGeom>
          <a:solidFill>
            <a:srgbClr val="C97D72"/>
          </a:solidFill>
          <a:ln w="10160">
            <a:solidFill>
              <a:srgbClr val="C97D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7351E16-46DB-42CA-86A9-9EBE7C7D8A89}"/>
              </a:ext>
            </a:extLst>
          </p:cNvPr>
          <p:cNvSpPr txBox="1"/>
          <p:nvPr/>
        </p:nvSpPr>
        <p:spPr>
          <a:xfrm>
            <a:off x="9272016" y="4334256"/>
            <a:ext cx="1755648" cy="532453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250">
                <a:solidFill>
                  <a:srgbClr val="806E68"/>
                </a:solidFill>
                <a:latin typeface="Arial" panose="020B0604020202020204" pitchFamily="34" charset="0"/>
              </a:rPr>
              <a:t>ошибка = полный откат</a:t>
            </a:r>
          </a:p>
        </p:txBody>
      </p:sp>
    </p:spTree>
    <p:extLst>
      <p:ext uri="{BB962C8B-B14F-4D97-AF65-F5344CB8AC3E}">
        <p14:creationId xmlns:p14="http://schemas.microsoft.com/office/powerpoint/2010/main" val="1711329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90957D-0C60-4DB7-B07E-CEA44A4DDA86}"/>
              </a:ext>
            </a:extLst>
          </p:cNvPr>
          <p:cNvSpPr txBox="1"/>
          <p:nvPr/>
        </p:nvSpPr>
        <p:spPr>
          <a:xfrm>
            <a:off x="594360" y="438912"/>
            <a:ext cx="3657600" cy="301621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000" b="1">
                <a:solidFill>
                  <a:srgbClr val="B85D70"/>
                </a:solidFill>
                <a:latin typeface="Arial" panose="020B0604020202020204" pitchFamily="34" charset="0"/>
              </a:rPr>
              <a:t>СКЛАД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6EAE28-F345-4750-AD54-13574217F5BB}"/>
              </a:ext>
            </a:extLst>
          </p:cNvPr>
          <p:cNvSpPr txBox="1"/>
          <p:nvPr/>
        </p:nvSpPr>
        <p:spPr>
          <a:xfrm>
            <a:off x="594360" y="713232"/>
            <a:ext cx="10241280" cy="624786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3100">
                <a:solidFill>
                  <a:srgbClr val="342622"/>
                </a:solidFill>
                <a:latin typeface="Georgia" panose="02040502050405020303" pitchFamily="18" charset="0"/>
              </a:rPr>
              <a:t>Автоматизация складских остатков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A2708369-639A-4771-B4E3-D3753536EBAD}"/>
              </a:ext>
            </a:extLst>
          </p:cNvPr>
          <p:cNvCxnSpPr/>
          <p:nvPr/>
        </p:nvCxnSpPr>
        <p:spPr>
          <a:xfrm>
            <a:off x="594360" y="1389888"/>
            <a:ext cx="10972800" cy="0"/>
          </a:xfrm>
          <a:prstGeom prst="line">
            <a:avLst/>
          </a:prstGeom>
          <a:ln w="15240">
            <a:solidFill>
              <a:srgbClr val="F4CB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2F459AD-88BF-4511-AAB7-F76752001311}"/>
              </a:ext>
            </a:extLst>
          </p:cNvPr>
          <p:cNvSpPr txBox="1"/>
          <p:nvPr/>
        </p:nvSpPr>
        <p:spPr>
          <a:xfrm>
            <a:off x="10835640" y="6510528"/>
            <a:ext cx="822960" cy="286232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r"/>
            <a:r>
              <a:rPr lang="en-US" sz="900" b="1">
                <a:solidFill>
                  <a:srgbClr val="B85D70"/>
                </a:solidFill>
                <a:latin typeface="Arial" panose="020B0604020202020204" pitchFamily="34" charset="0"/>
              </a:rPr>
              <a:t>LOTUS</a:t>
            </a:r>
            <a:endParaRPr lang="ru-RU" sz="900" b="1">
              <a:solidFill>
                <a:srgbClr val="B85D70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7243AF-DD8A-4001-82B9-83EFB2A8521A}"/>
              </a:ext>
            </a:extLst>
          </p:cNvPr>
          <p:cNvSpPr txBox="1"/>
          <p:nvPr/>
        </p:nvSpPr>
        <p:spPr>
          <a:xfrm>
            <a:off x="438912" y="6510528"/>
            <a:ext cx="320040" cy="286232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900" b="1">
                <a:solidFill>
                  <a:srgbClr val="806E68"/>
                </a:solidFill>
                <a:latin typeface="Arial" panose="020B0604020202020204" pitchFamily="34" charset="0"/>
              </a:rPr>
              <a:t>05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78B2FA1F-AED8-40A0-BA49-30B15F1BA0F1}"/>
              </a:ext>
            </a:extLst>
          </p:cNvPr>
          <p:cNvSpPr/>
          <p:nvPr/>
        </p:nvSpPr>
        <p:spPr>
          <a:xfrm>
            <a:off x="658368" y="1719072"/>
            <a:ext cx="4736592" cy="1298448"/>
          </a:xfrm>
          <a:prstGeom prst="roundRect">
            <a:avLst/>
          </a:prstGeom>
          <a:solidFill>
            <a:srgbClr val="F8E7E2"/>
          </a:solidFill>
          <a:ln w="10160">
            <a:solidFill>
              <a:srgbClr val="F4CB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FC0CF6-C764-4F62-A7E8-A213D656FDF0}"/>
              </a:ext>
            </a:extLst>
          </p:cNvPr>
          <p:cNvSpPr txBox="1"/>
          <p:nvPr/>
        </p:nvSpPr>
        <p:spPr>
          <a:xfrm>
            <a:off x="950976" y="1956816"/>
            <a:ext cx="1719072" cy="670953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700" b="1">
                <a:solidFill>
                  <a:srgbClr val="B85D70"/>
                </a:solidFill>
                <a:latin typeface="Arial" panose="020B0604020202020204" pitchFamily="34" charset="0"/>
              </a:rPr>
              <a:t>Доступный остаток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2389B3-245A-4FFA-8216-38D76EF39A1E}"/>
              </a:ext>
            </a:extLst>
          </p:cNvPr>
          <p:cNvSpPr txBox="1"/>
          <p:nvPr/>
        </p:nvSpPr>
        <p:spPr>
          <a:xfrm>
            <a:off x="2706624" y="1920240"/>
            <a:ext cx="320040" cy="517065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2400">
                <a:solidFill>
                  <a:srgbClr val="C97D72"/>
                </a:solidFill>
                <a:latin typeface="Georgia" panose="02040502050405020303" pitchFamily="18" charset="0"/>
              </a:rPr>
              <a:t>=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29A57F-C06A-4503-8639-2F8931EE9F5C}"/>
              </a:ext>
            </a:extLst>
          </p:cNvPr>
          <p:cNvSpPr txBox="1"/>
          <p:nvPr/>
        </p:nvSpPr>
        <p:spPr>
          <a:xfrm>
            <a:off x="3072384" y="1975104"/>
            <a:ext cx="1298448" cy="578620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400" b="1">
                <a:solidFill>
                  <a:srgbClr val="342622"/>
                </a:solidFill>
                <a:latin typeface="Arial" panose="020B0604020202020204" pitchFamily="34" charset="0"/>
              </a:rPr>
              <a:t>Физический остаток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73BC24-9AE7-431D-8C30-6865D87CD4D0}"/>
              </a:ext>
            </a:extLst>
          </p:cNvPr>
          <p:cNvSpPr txBox="1"/>
          <p:nvPr/>
        </p:nvSpPr>
        <p:spPr>
          <a:xfrm>
            <a:off x="4407408" y="1920240"/>
            <a:ext cx="320040" cy="517065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2400">
                <a:solidFill>
                  <a:srgbClr val="C97D72"/>
                </a:solidFill>
                <a:latin typeface="Georgia" panose="02040502050405020303" pitchFamily="18" charset="0"/>
              </a:rPr>
              <a:t>−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81C9DE-7844-4906-A4D5-8FE18B576D7B}"/>
              </a:ext>
            </a:extLst>
          </p:cNvPr>
          <p:cNvSpPr txBox="1"/>
          <p:nvPr/>
        </p:nvSpPr>
        <p:spPr>
          <a:xfrm>
            <a:off x="4681728" y="1975104"/>
            <a:ext cx="932688" cy="578620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400" b="1">
                <a:solidFill>
                  <a:srgbClr val="342622"/>
                </a:solidFill>
                <a:latin typeface="Arial" panose="020B0604020202020204" pitchFamily="34" charset="0"/>
              </a:rPr>
              <a:t>Активный резерв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1D2D51-0C3D-4642-B576-7EC986468639}"/>
              </a:ext>
            </a:extLst>
          </p:cNvPr>
          <p:cNvSpPr txBox="1"/>
          <p:nvPr/>
        </p:nvSpPr>
        <p:spPr>
          <a:xfrm>
            <a:off x="749808" y="3346704"/>
            <a:ext cx="4480560" cy="670953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700">
                <a:solidFill>
                  <a:srgbClr val="806E68"/>
                </a:solidFill>
                <a:latin typeface="Arial" panose="020B0604020202020204" pitchFamily="34" charset="0"/>
              </a:rPr>
              <a:t>Lotus отдельно учитывает остатки, резервы, минимум и складские движения.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5D23DD2C-6776-49DB-9824-E83C9E7865DE}"/>
              </a:ext>
            </a:extLst>
          </p:cNvPr>
          <p:cNvSpPr/>
          <p:nvPr/>
        </p:nvSpPr>
        <p:spPr>
          <a:xfrm>
            <a:off x="5989320" y="1700784"/>
            <a:ext cx="5166360" cy="3566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D8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B3DDE3-75FA-498C-815D-6C685D68EC0C}"/>
              </a:ext>
            </a:extLst>
          </p:cNvPr>
          <p:cNvSpPr txBox="1"/>
          <p:nvPr/>
        </p:nvSpPr>
        <p:spPr>
          <a:xfrm>
            <a:off x="6309360" y="1956816"/>
            <a:ext cx="4389120" cy="424732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>
                <a:solidFill>
                  <a:srgbClr val="342622"/>
                </a:solidFill>
                <a:latin typeface="Georgia" panose="02040502050405020303" pitchFamily="18" charset="0"/>
              </a:rPr>
              <a:t>Состояние цветка на складе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0EF8DC-C53D-4FF7-935C-29C55F911606}"/>
              </a:ext>
            </a:extLst>
          </p:cNvPr>
          <p:cNvSpPr txBox="1"/>
          <p:nvPr/>
        </p:nvSpPr>
        <p:spPr>
          <a:xfrm>
            <a:off x="6327648" y="2560320"/>
            <a:ext cx="2651760" cy="363176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400">
                <a:solidFill>
                  <a:srgbClr val="806E68"/>
                </a:solidFill>
                <a:latin typeface="Arial" panose="020B0604020202020204" pitchFamily="34" charset="0"/>
              </a:rPr>
              <a:t>Физический остаток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E03DF9-9A06-40E0-B67B-8EC2EDD1F377}"/>
              </a:ext>
            </a:extLst>
          </p:cNvPr>
          <p:cNvSpPr txBox="1"/>
          <p:nvPr/>
        </p:nvSpPr>
        <p:spPr>
          <a:xfrm>
            <a:off x="9738360" y="2514600"/>
            <a:ext cx="731520" cy="424732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r"/>
            <a:r>
              <a:rPr lang="ru-RU" b="1">
                <a:solidFill>
                  <a:srgbClr val="342622"/>
                </a:solidFill>
                <a:latin typeface="Arial" panose="020B0604020202020204" pitchFamily="34" charset="0"/>
              </a:rPr>
              <a:t>42</a:t>
            </a:r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F6398A7E-D53F-41A8-979A-D2DA6614E002}"/>
              </a:ext>
            </a:extLst>
          </p:cNvPr>
          <p:cNvCxnSpPr/>
          <p:nvPr/>
        </p:nvCxnSpPr>
        <p:spPr>
          <a:xfrm>
            <a:off x="6327648" y="2907792"/>
            <a:ext cx="4114800" cy="0"/>
          </a:xfrm>
          <a:prstGeom prst="line">
            <a:avLst/>
          </a:prstGeom>
          <a:ln w="10160">
            <a:solidFill>
              <a:srgbClr val="EAD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D81FB9C-B074-4A77-9DD3-0A98A50CF47A}"/>
              </a:ext>
            </a:extLst>
          </p:cNvPr>
          <p:cNvSpPr txBox="1"/>
          <p:nvPr/>
        </p:nvSpPr>
        <p:spPr>
          <a:xfrm>
            <a:off x="6327648" y="3072384"/>
            <a:ext cx="2651760" cy="363176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400">
                <a:solidFill>
                  <a:srgbClr val="806E68"/>
                </a:solidFill>
                <a:latin typeface="Arial" panose="020B0604020202020204" pitchFamily="34" charset="0"/>
              </a:rPr>
              <a:t>Активный резерв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462D6A-3D32-4309-8E0F-BFFF4899E47F}"/>
              </a:ext>
            </a:extLst>
          </p:cNvPr>
          <p:cNvSpPr txBox="1"/>
          <p:nvPr/>
        </p:nvSpPr>
        <p:spPr>
          <a:xfrm>
            <a:off x="9738360" y="3026664"/>
            <a:ext cx="731520" cy="424732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r"/>
            <a:r>
              <a:rPr lang="ru-RU" b="1">
                <a:solidFill>
                  <a:srgbClr val="B85D70"/>
                </a:solidFill>
                <a:latin typeface="Arial" panose="020B0604020202020204" pitchFamily="34" charset="0"/>
              </a:rPr>
              <a:t>15</a:t>
            </a:r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9AC18611-5F6C-471A-8414-2A2DA05DB893}"/>
              </a:ext>
            </a:extLst>
          </p:cNvPr>
          <p:cNvCxnSpPr/>
          <p:nvPr/>
        </p:nvCxnSpPr>
        <p:spPr>
          <a:xfrm>
            <a:off x="6327648" y="3419856"/>
            <a:ext cx="4114800" cy="0"/>
          </a:xfrm>
          <a:prstGeom prst="line">
            <a:avLst/>
          </a:prstGeom>
          <a:ln w="10160">
            <a:solidFill>
              <a:srgbClr val="EAD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EB0DA24-CABF-4C76-A8E8-559DA3A07D9C}"/>
              </a:ext>
            </a:extLst>
          </p:cNvPr>
          <p:cNvSpPr txBox="1"/>
          <p:nvPr/>
        </p:nvSpPr>
        <p:spPr>
          <a:xfrm>
            <a:off x="6327648" y="3584448"/>
            <a:ext cx="2651760" cy="363176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400">
                <a:solidFill>
                  <a:srgbClr val="806E68"/>
                </a:solidFill>
                <a:latin typeface="Arial" panose="020B0604020202020204" pitchFamily="34" charset="0"/>
              </a:rPr>
              <a:t>Доступно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5CDD82-2824-4F70-909B-60BFEE56183A}"/>
              </a:ext>
            </a:extLst>
          </p:cNvPr>
          <p:cNvSpPr txBox="1"/>
          <p:nvPr/>
        </p:nvSpPr>
        <p:spPr>
          <a:xfrm>
            <a:off x="9738360" y="3538728"/>
            <a:ext cx="731520" cy="424732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r"/>
            <a:r>
              <a:rPr lang="ru-RU" b="1">
                <a:solidFill>
                  <a:srgbClr val="C97D72"/>
                </a:solidFill>
                <a:latin typeface="Arial" panose="020B0604020202020204" pitchFamily="34" charset="0"/>
              </a:rPr>
              <a:t>27</a:t>
            </a:r>
          </a:p>
        </p:txBody>
      </p: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8AB59E9E-4E55-47C9-8DFD-24435DCA5F64}"/>
              </a:ext>
            </a:extLst>
          </p:cNvPr>
          <p:cNvCxnSpPr/>
          <p:nvPr/>
        </p:nvCxnSpPr>
        <p:spPr>
          <a:xfrm>
            <a:off x="6327648" y="3931920"/>
            <a:ext cx="4114800" cy="0"/>
          </a:xfrm>
          <a:prstGeom prst="line">
            <a:avLst/>
          </a:prstGeom>
          <a:ln w="10160">
            <a:solidFill>
              <a:srgbClr val="EAD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97954DA-A9F7-4274-B5EF-EECBABB005E3}"/>
              </a:ext>
            </a:extLst>
          </p:cNvPr>
          <p:cNvSpPr txBox="1"/>
          <p:nvPr/>
        </p:nvSpPr>
        <p:spPr>
          <a:xfrm>
            <a:off x="6327648" y="4096512"/>
            <a:ext cx="2651760" cy="363176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400">
                <a:solidFill>
                  <a:srgbClr val="806E68"/>
                </a:solidFill>
                <a:latin typeface="Arial" panose="020B0604020202020204" pitchFamily="34" charset="0"/>
              </a:rPr>
              <a:t>Минимальный остаток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F7D6A1F-9A72-47CD-B43B-9F1C8C86B4E8}"/>
              </a:ext>
            </a:extLst>
          </p:cNvPr>
          <p:cNvSpPr txBox="1"/>
          <p:nvPr/>
        </p:nvSpPr>
        <p:spPr>
          <a:xfrm>
            <a:off x="9738360" y="4050792"/>
            <a:ext cx="731520" cy="424732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r"/>
            <a:r>
              <a:rPr lang="ru-RU" b="1">
                <a:solidFill>
                  <a:srgbClr val="C48357"/>
                </a:solidFill>
                <a:latin typeface="Arial" panose="020B0604020202020204" pitchFamily="34" charset="0"/>
              </a:rPr>
              <a:t>10</a:t>
            </a:r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440EE9B9-6382-489B-8664-FFBEA5584C21}"/>
              </a:ext>
            </a:extLst>
          </p:cNvPr>
          <p:cNvCxnSpPr/>
          <p:nvPr/>
        </p:nvCxnSpPr>
        <p:spPr>
          <a:xfrm>
            <a:off x="6327648" y="4443984"/>
            <a:ext cx="4114800" cy="0"/>
          </a:xfrm>
          <a:prstGeom prst="line">
            <a:avLst/>
          </a:prstGeom>
          <a:ln w="10160">
            <a:solidFill>
              <a:srgbClr val="EAD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0540FDF6-DE70-4EE5-B7DA-D53AC688A5B5}"/>
              </a:ext>
            </a:extLst>
          </p:cNvPr>
          <p:cNvSpPr/>
          <p:nvPr/>
        </p:nvSpPr>
        <p:spPr>
          <a:xfrm>
            <a:off x="658368" y="4919472"/>
            <a:ext cx="10497312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D8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41260839-E010-42B5-A39C-0483CBDF08B8}"/>
              </a:ext>
            </a:extLst>
          </p:cNvPr>
          <p:cNvSpPr/>
          <p:nvPr/>
        </p:nvSpPr>
        <p:spPr>
          <a:xfrm>
            <a:off x="877824" y="5047488"/>
            <a:ext cx="1463040" cy="420624"/>
          </a:xfrm>
          <a:prstGeom prst="roundRect">
            <a:avLst/>
          </a:prstGeom>
          <a:solidFill>
            <a:srgbClr val="F4CBC4"/>
          </a:solidFill>
          <a:ln w="10160">
            <a:solidFill>
              <a:srgbClr val="EAD8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9471B8-4BF3-499F-9842-442201D2B682}"/>
              </a:ext>
            </a:extLst>
          </p:cNvPr>
          <p:cNvSpPr txBox="1"/>
          <p:nvPr/>
        </p:nvSpPr>
        <p:spPr>
          <a:xfrm>
            <a:off x="950976" y="5157216"/>
            <a:ext cx="1316736" cy="340093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250" b="1">
                <a:solidFill>
                  <a:srgbClr val="342622"/>
                </a:solidFill>
                <a:latin typeface="Arial" panose="020B0604020202020204" pitchFamily="34" charset="0"/>
              </a:rPr>
              <a:t>Подтвердить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64A9D9-4F73-4F00-A60E-A025BF6D676A}"/>
              </a:ext>
            </a:extLst>
          </p:cNvPr>
          <p:cNvSpPr txBox="1"/>
          <p:nvPr/>
        </p:nvSpPr>
        <p:spPr>
          <a:xfrm>
            <a:off x="2468880" y="5175504"/>
            <a:ext cx="1417320" cy="532453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250">
                <a:solidFill>
                  <a:srgbClr val="806E68"/>
                </a:solidFill>
                <a:latin typeface="Arial" panose="020B0604020202020204" pitchFamily="34" charset="0"/>
              </a:rPr>
              <a:t>создаётся резерв</a:t>
            </a:r>
          </a:p>
        </p:txBody>
      </p: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BA377906-91B1-44BD-898F-786C4ECDACD4}"/>
              </a:ext>
            </a:extLst>
          </p:cNvPr>
          <p:cNvCxnSpPr/>
          <p:nvPr/>
        </p:nvCxnSpPr>
        <p:spPr>
          <a:xfrm>
            <a:off x="3931920" y="5257800"/>
            <a:ext cx="347472" cy="0"/>
          </a:xfrm>
          <a:prstGeom prst="line">
            <a:avLst/>
          </a:prstGeom>
          <a:ln w="19050">
            <a:solidFill>
              <a:srgbClr val="C97D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5B0F0DFA-AC22-4774-880D-CF05F1A589E6}"/>
              </a:ext>
            </a:extLst>
          </p:cNvPr>
          <p:cNvSpPr/>
          <p:nvPr/>
        </p:nvSpPr>
        <p:spPr>
          <a:xfrm>
            <a:off x="4279392" y="5047488"/>
            <a:ext cx="1463040" cy="420624"/>
          </a:xfrm>
          <a:prstGeom prst="roundRect">
            <a:avLst/>
          </a:prstGeom>
          <a:solidFill>
            <a:srgbClr val="F4CBC4"/>
          </a:solidFill>
          <a:ln w="10160">
            <a:solidFill>
              <a:srgbClr val="EAD8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2E21DC7-BAD6-42D5-B342-3F0E7D7BEB10}"/>
              </a:ext>
            </a:extLst>
          </p:cNvPr>
          <p:cNvSpPr txBox="1"/>
          <p:nvPr/>
        </p:nvSpPr>
        <p:spPr>
          <a:xfrm>
            <a:off x="4352544" y="5157216"/>
            <a:ext cx="1316736" cy="340093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250" b="1">
                <a:solidFill>
                  <a:srgbClr val="342622"/>
                </a:solidFill>
                <a:latin typeface="Arial" panose="020B0604020202020204" pitchFamily="34" charset="0"/>
              </a:rPr>
              <a:t>Отменить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DDF87CD-9063-4EC5-B37C-D7C57516C847}"/>
              </a:ext>
            </a:extLst>
          </p:cNvPr>
          <p:cNvSpPr txBox="1"/>
          <p:nvPr/>
        </p:nvSpPr>
        <p:spPr>
          <a:xfrm>
            <a:off x="5870448" y="5175504"/>
            <a:ext cx="1417320" cy="532453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250">
                <a:solidFill>
                  <a:srgbClr val="806E68"/>
                </a:solidFill>
                <a:latin typeface="Arial" panose="020B0604020202020204" pitchFamily="34" charset="0"/>
              </a:rPr>
              <a:t>резерв освобождается</a:t>
            </a:r>
          </a:p>
        </p:txBody>
      </p: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4D1AF487-7BE8-4FE8-AF5F-C817A3179DB9}"/>
              </a:ext>
            </a:extLst>
          </p:cNvPr>
          <p:cNvCxnSpPr/>
          <p:nvPr/>
        </p:nvCxnSpPr>
        <p:spPr>
          <a:xfrm>
            <a:off x="7333488" y="5257800"/>
            <a:ext cx="347472" cy="0"/>
          </a:xfrm>
          <a:prstGeom prst="line">
            <a:avLst/>
          </a:prstGeom>
          <a:ln w="19050">
            <a:solidFill>
              <a:srgbClr val="C97D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4F0E5572-788E-400B-A347-941446A27747}"/>
              </a:ext>
            </a:extLst>
          </p:cNvPr>
          <p:cNvSpPr/>
          <p:nvPr/>
        </p:nvSpPr>
        <p:spPr>
          <a:xfrm>
            <a:off x="7680960" y="5047488"/>
            <a:ext cx="1463040" cy="420624"/>
          </a:xfrm>
          <a:prstGeom prst="roundRect">
            <a:avLst/>
          </a:prstGeom>
          <a:solidFill>
            <a:srgbClr val="F8E7E2"/>
          </a:solidFill>
          <a:ln w="10160">
            <a:solidFill>
              <a:srgbClr val="EAD8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8327DB5-0DA4-4BD0-ABEF-9EBE34E44C0F}"/>
              </a:ext>
            </a:extLst>
          </p:cNvPr>
          <p:cNvSpPr txBox="1"/>
          <p:nvPr/>
        </p:nvSpPr>
        <p:spPr>
          <a:xfrm>
            <a:off x="7754112" y="5157216"/>
            <a:ext cx="1316736" cy="340093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250" b="1">
                <a:solidFill>
                  <a:srgbClr val="342622"/>
                </a:solidFill>
                <a:latin typeface="Arial" panose="020B0604020202020204" pitchFamily="34" charset="0"/>
              </a:rPr>
              <a:t>Выполнить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91F27AF-3993-4CB3-8FCB-7D7F9C1F251A}"/>
              </a:ext>
            </a:extLst>
          </p:cNvPr>
          <p:cNvSpPr txBox="1"/>
          <p:nvPr/>
        </p:nvSpPr>
        <p:spPr>
          <a:xfrm>
            <a:off x="9272016" y="5175504"/>
            <a:ext cx="1417320" cy="532453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250">
                <a:solidFill>
                  <a:srgbClr val="C97D72"/>
                </a:solidFill>
                <a:latin typeface="Arial" panose="020B0604020202020204" pitchFamily="34" charset="0"/>
              </a:rPr>
              <a:t>резерв → списание</a:t>
            </a:r>
          </a:p>
        </p:txBody>
      </p:sp>
    </p:spTree>
    <p:extLst>
      <p:ext uri="{BB962C8B-B14F-4D97-AF65-F5344CB8AC3E}">
        <p14:creationId xmlns:p14="http://schemas.microsoft.com/office/powerpoint/2010/main" val="2869369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07C543-4AAF-4096-8364-C1CE8FED79EC}"/>
              </a:ext>
            </a:extLst>
          </p:cNvPr>
          <p:cNvSpPr txBox="1"/>
          <p:nvPr/>
        </p:nvSpPr>
        <p:spPr>
          <a:xfrm>
            <a:off x="594360" y="438912"/>
            <a:ext cx="3657600" cy="301621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000" b="1">
                <a:solidFill>
                  <a:srgbClr val="B85D70"/>
                </a:solidFill>
                <a:latin typeface="Arial" panose="020B0604020202020204" pitchFamily="34" charset="0"/>
              </a:rPr>
              <a:t>ЗАКУПКИ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411FB7-A2D8-43FF-8F0A-0C4EB1D1FFED}"/>
              </a:ext>
            </a:extLst>
          </p:cNvPr>
          <p:cNvSpPr txBox="1"/>
          <p:nvPr/>
        </p:nvSpPr>
        <p:spPr>
          <a:xfrm>
            <a:off x="594360" y="713232"/>
            <a:ext cx="10241280" cy="624786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3100">
                <a:solidFill>
                  <a:srgbClr val="342622"/>
                </a:solidFill>
                <a:latin typeface="Georgia" panose="02040502050405020303" pitchFamily="18" charset="0"/>
              </a:rPr>
              <a:t>Автоматизация закупок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0D20F1D9-2C5A-4FBE-AE24-C13BCF49982B}"/>
              </a:ext>
            </a:extLst>
          </p:cNvPr>
          <p:cNvCxnSpPr/>
          <p:nvPr/>
        </p:nvCxnSpPr>
        <p:spPr>
          <a:xfrm>
            <a:off x="594360" y="1389888"/>
            <a:ext cx="10972800" cy="0"/>
          </a:xfrm>
          <a:prstGeom prst="line">
            <a:avLst/>
          </a:prstGeom>
          <a:ln w="15240">
            <a:solidFill>
              <a:srgbClr val="F4CB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CA9B211-73CC-40E5-BA52-CB3019F807D9}"/>
              </a:ext>
            </a:extLst>
          </p:cNvPr>
          <p:cNvSpPr txBox="1"/>
          <p:nvPr/>
        </p:nvSpPr>
        <p:spPr>
          <a:xfrm>
            <a:off x="10835640" y="6510528"/>
            <a:ext cx="822960" cy="286232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r"/>
            <a:r>
              <a:rPr lang="en-US" sz="900" b="1">
                <a:solidFill>
                  <a:srgbClr val="B85D70"/>
                </a:solidFill>
                <a:latin typeface="Arial" panose="020B0604020202020204" pitchFamily="34" charset="0"/>
              </a:rPr>
              <a:t>LOTUS</a:t>
            </a:r>
            <a:endParaRPr lang="ru-RU" sz="900" b="1">
              <a:solidFill>
                <a:srgbClr val="B85D70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E467A8-E05E-4962-9DDE-4177B77965B1}"/>
              </a:ext>
            </a:extLst>
          </p:cNvPr>
          <p:cNvSpPr txBox="1"/>
          <p:nvPr/>
        </p:nvSpPr>
        <p:spPr>
          <a:xfrm>
            <a:off x="438912" y="6510528"/>
            <a:ext cx="320040" cy="286232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900" b="1">
                <a:solidFill>
                  <a:srgbClr val="806E68"/>
                </a:solidFill>
                <a:latin typeface="Arial" panose="020B0604020202020204" pitchFamily="34" charset="0"/>
              </a:rPr>
              <a:t>06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18F552-3296-43E7-AFAC-9E152137B298}"/>
              </a:ext>
            </a:extLst>
          </p:cNvPr>
          <p:cNvSpPr txBox="1"/>
          <p:nvPr/>
        </p:nvSpPr>
        <p:spPr>
          <a:xfrm>
            <a:off x="658368" y="1645920"/>
            <a:ext cx="8503920" cy="670953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700">
                <a:solidFill>
                  <a:srgbClr val="806E68"/>
                </a:solidFill>
                <a:latin typeface="Arial" panose="020B0604020202020204" pitchFamily="34" charset="0"/>
              </a:rPr>
              <a:t>Проведение документа — точка, в которой закупка становится складским движением.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D2FAAE92-BCA4-485F-B8C4-A38D7B813578}"/>
              </a:ext>
            </a:extLst>
          </p:cNvPr>
          <p:cNvSpPr/>
          <p:nvPr/>
        </p:nvSpPr>
        <p:spPr>
          <a:xfrm>
            <a:off x="749808" y="2578608"/>
            <a:ext cx="1572768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D8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F54332-EF39-4629-9273-BC4F1287D752}"/>
              </a:ext>
            </a:extLst>
          </p:cNvPr>
          <p:cNvSpPr txBox="1"/>
          <p:nvPr/>
        </p:nvSpPr>
        <p:spPr>
          <a:xfrm>
            <a:off x="859536" y="2779776"/>
            <a:ext cx="1353312" cy="340093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250" b="1">
                <a:solidFill>
                  <a:srgbClr val="342622"/>
                </a:solidFill>
                <a:latin typeface="Arial" panose="020B0604020202020204" pitchFamily="34" charset="0"/>
              </a:rPr>
              <a:t>Поставщик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4724E63C-770C-4E0F-A9E9-7A861CE504D2}"/>
              </a:ext>
            </a:extLst>
          </p:cNvPr>
          <p:cNvCxnSpPr/>
          <p:nvPr/>
        </p:nvCxnSpPr>
        <p:spPr>
          <a:xfrm>
            <a:off x="2322576" y="3063240"/>
            <a:ext cx="329184" cy="0"/>
          </a:xfrm>
          <a:prstGeom prst="line">
            <a:avLst/>
          </a:prstGeom>
          <a:ln w="25400">
            <a:solidFill>
              <a:srgbClr val="C97D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144553D1-2371-4853-8C7D-75B415BC2DC2}"/>
              </a:ext>
            </a:extLst>
          </p:cNvPr>
          <p:cNvSpPr/>
          <p:nvPr/>
        </p:nvSpPr>
        <p:spPr>
          <a:xfrm>
            <a:off x="2816352" y="2578608"/>
            <a:ext cx="1572768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D8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67FDCD-D966-4B9D-B526-88B6CCB9F243}"/>
              </a:ext>
            </a:extLst>
          </p:cNvPr>
          <p:cNvSpPr txBox="1"/>
          <p:nvPr/>
        </p:nvSpPr>
        <p:spPr>
          <a:xfrm>
            <a:off x="2926080" y="2779776"/>
            <a:ext cx="1353312" cy="532453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250" b="1">
                <a:solidFill>
                  <a:srgbClr val="342622"/>
                </a:solidFill>
                <a:latin typeface="Arial" panose="020B0604020202020204" pitchFamily="34" charset="0"/>
              </a:rPr>
              <a:t>Черновик
поступления</a:t>
            </a:r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66316291-2998-4EFD-BF7C-444CBD7515CE}"/>
              </a:ext>
            </a:extLst>
          </p:cNvPr>
          <p:cNvCxnSpPr/>
          <p:nvPr/>
        </p:nvCxnSpPr>
        <p:spPr>
          <a:xfrm>
            <a:off x="4389120" y="3063240"/>
            <a:ext cx="329184" cy="0"/>
          </a:xfrm>
          <a:prstGeom prst="line">
            <a:avLst/>
          </a:prstGeom>
          <a:ln w="25400">
            <a:solidFill>
              <a:srgbClr val="C97D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58704E47-6DF9-4B6C-8D30-00DD7356B577}"/>
              </a:ext>
            </a:extLst>
          </p:cNvPr>
          <p:cNvSpPr/>
          <p:nvPr/>
        </p:nvSpPr>
        <p:spPr>
          <a:xfrm>
            <a:off x="4882896" y="2578608"/>
            <a:ext cx="1572768" cy="960120"/>
          </a:xfrm>
          <a:prstGeom prst="roundRect">
            <a:avLst/>
          </a:prstGeom>
          <a:solidFill>
            <a:srgbClr val="F8E7E2"/>
          </a:solidFill>
          <a:ln w="10160">
            <a:solidFill>
              <a:srgbClr val="EAD8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D2D9BA-4991-4B10-8798-1DAD4DE159F6}"/>
              </a:ext>
            </a:extLst>
          </p:cNvPr>
          <p:cNvSpPr txBox="1"/>
          <p:nvPr/>
        </p:nvSpPr>
        <p:spPr>
          <a:xfrm>
            <a:off x="4992624" y="2779776"/>
            <a:ext cx="1353312" cy="532453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250" b="1">
                <a:solidFill>
                  <a:srgbClr val="342622"/>
                </a:solidFill>
                <a:latin typeface="Arial" panose="020B0604020202020204" pitchFamily="34" charset="0"/>
              </a:rPr>
              <a:t>Проверка
состава и цен</a:t>
            </a:r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A5624DD5-E0AE-490E-8B01-A5632DC56039}"/>
              </a:ext>
            </a:extLst>
          </p:cNvPr>
          <p:cNvCxnSpPr/>
          <p:nvPr/>
        </p:nvCxnSpPr>
        <p:spPr>
          <a:xfrm>
            <a:off x="6455664" y="3063240"/>
            <a:ext cx="329184" cy="0"/>
          </a:xfrm>
          <a:prstGeom prst="line">
            <a:avLst/>
          </a:prstGeom>
          <a:ln w="25400">
            <a:solidFill>
              <a:srgbClr val="C97D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BB7DAAA3-9435-43DD-9E74-B8403425B864}"/>
              </a:ext>
            </a:extLst>
          </p:cNvPr>
          <p:cNvSpPr/>
          <p:nvPr/>
        </p:nvSpPr>
        <p:spPr>
          <a:xfrm>
            <a:off x="6949440" y="2578608"/>
            <a:ext cx="1572768" cy="960120"/>
          </a:xfrm>
          <a:prstGeom prst="roundRect">
            <a:avLst/>
          </a:prstGeom>
          <a:solidFill>
            <a:srgbClr val="F4CBC4"/>
          </a:solidFill>
          <a:ln w="10160">
            <a:solidFill>
              <a:srgbClr val="EAD8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AE195C-834D-4C7C-9B6F-120BFB4126F5}"/>
              </a:ext>
            </a:extLst>
          </p:cNvPr>
          <p:cNvSpPr txBox="1"/>
          <p:nvPr/>
        </p:nvSpPr>
        <p:spPr>
          <a:xfrm>
            <a:off x="7059168" y="2779776"/>
            <a:ext cx="1353312" cy="532453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250" b="1">
                <a:solidFill>
                  <a:srgbClr val="342622"/>
                </a:solidFill>
                <a:latin typeface="Arial" panose="020B0604020202020204" pitchFamily="34" charset="0"/>
              </a:rPr>
              <a:t>Проведение
документа</a:t>
            </a:r>
          </a:p>
        </p:txBody>
      </p: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936872EE-4FD2-497D-B372-AB1F0FFD5185}"/>
              </a:ext>
            </a:extLst>
          </p:cNvPr>
          <p:cNvCxnSpPr/>
          <p:nvPr/>
        </p:nvCxnSpPr>
        <p:spPr>
          <a:xfrm>
            <a:off x="8522208" y="3063240"/>
            <a:ext cx="329184" cy="0"/>
          </a:xfrm>
          <a:prstGeom prst="line">
            <a:avLst/>
          </a:prstGeom>
          <a:ln w="25400">
            <a:solidFill>
              <a:srgbClr val="C97D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5564755F-88A4-4100-AB6F-600FCC88FCA3}"/>
              </a:ext>
            </a:extLst>
          </p:cNvPr>
          <p:cNvSpPr/>
          <p:nvPr/>
        </p:nvSpPr>
        <p:spPr>
          <a:xfrm>
            <a:off x="9015984" y="2578608"/>
            <a:ext cx="1572768" cy="960120"/>
          </a:xfrm>
          <a:prstGeom prst="roundRect">
            <a:avLst/>
          </a:prstGeom>
          <a:solidFill>
            <a:srgbClr val="C97D72"/>
          </a:solidFill>
          <a:ln w="10160">
            <a:solidFill>
              <a:srgbClr val="C97D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E2DBFE-3A47-40C8-91F5-1152D6EE89A3}"/>
              </a:ext>
            </a:extLst>
          </p:cNvPr>
          <p:cNvSpPr txBox="1"/>
          <p:nvPr/>
        </p:nvSpPr>
        <p:spPr>
          <a:xfrm>
            <a:off x="9125712" y="2779776"/>
            <a:ext cx="1353312" cy="532453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250" b="1">
                <a:solidFill>
                  <a:srgbClr val="FFFFFF"/>
                </a:solidFill>
                <a:latin typeface="Arial" panose="020B0604020202020204" pitchFamily="34" charset="0"/>
              </a:rPr>
              <a:t>Остаток +
цена</a:t>
            </a: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3994B9A3-07E4-4A78-8788-68031EB29221}"/>
              </a:ext>
            </a:extLst>
          </p:cNvPr>
          <p:cNvSpPr/>
          <p:nvPr/>
        </p:nvSpPr>
        <p:spPr>
          <a:xfrm>
            <a:off x="749808" y="4078224"/>
            <a:ext cx="470916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D8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02372B-E492-47A4-B0BF-E43816D77F53}"/>
              </a:ext>
            </a:extLst>
          </p:cNvPr>
          <p:cNvSpPr txBox="1"/>
          <p:nvPr/>
        </p:nvSpPr>
        <p:spPr>
          <a:xfrm>
            <a:off x="1005840" y="4425696"/>
            <a:ext cx="1691640" cy="670953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700">
                <a:solidFill>
                  <a:srgbClr val="342622"/>
                </a:solidFill>
                <a:latin typeface="Georgia" panose="02040502050405020303" pitchFamily="18" charset="0"/>
              </a:rPr>
              <a:t>После проведения</a:t>
            </a:r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15A12971-B1DA-4FE0-8D9E-61CFE854B55D}"/>
              </a:ext>
            </a:extLst>
          </p:cNvPr>
          <p:cNvSpPr/>
          <p:nvPr/>
        </p:nvSpPr>
        <p:spPr>
          <a:xfrm>
            <a:off x="2907792" y="4315968"/>
            <a:ext cx="91440" cy="91440"/>
          </a:xfrm>
          <a:prstGeom prst="ellipse">
            <a:avLst/>
          </a:prstGeom>
          <a:solidFill>
            <a:srgbClr val="C97D72"/>
          </a:solidFill>
          <a:ln w="10160">
            <a:solidFill>
              <a:srgbClr val="C97D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7A3D0D-B89A-4CD8-B50E-FD1F4C6F1169}"/>
              </a:ext>
            </a:extLst>
          </p:cNvPr>
          <p:cNvSpPr txBox="1"/>
          <p:nvPr/>
        </p:nvSpPr>
        <p:spPr>
          <a:xfrm>
            <a:off x="3108960" y="4261104"/>
            <a:ext cx="2066544" cy="332399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200">
                <a:solidFill>
                  <a:srgbClr val="806E68"/>
                </a:solidFill>
                <a:latin typeface="Arial" panose="020B0604020202020204" pitchFamily="34" charset="0"/>
              </a:rPr>
              <a:t>остатки увеличиваются</a:t>
            </a:r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5371D657-76BA-4ABC-97C1-205D3CCD4F92}"/>
              </a:ext>
            </a:extLst>
          </p:cNvPr>
          <p:cNvSpPr/>
          <p:nvPr/>
        </p:nvSpPr>
        <p:spPr>
          <a:xfrm>
            <a:off x="2907792" y="4590288"/>
            <a:ext cx="91440" cy="91440"/>
          </a:xfrm>
          <a:prstGeom prst="ellipse">
            <a:avLst/>
          </a:prstGeom>
          <a:solidFill>
            <a:srgbClr val="C97D72"/>
          </a:solidFill>
          <a:ln w="10160">
            <a:solidFill>
              <a:srgbClr val="C97D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84A1F85-DE22-4719-8E30-EADF3CEB39FD}"/>
              </a:ext>
            </a:extLst>
          </p:cNvPr>
          <p:cNvSpPr txBox="1"/>
          <p:nvPr/>
        </p:nvSpPr>
        <p:spPr>
          <a:xfrm>
            <a:off x="3108960" y="4535424"/>
            <a:ext cx="2066544" cy="332399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200">
                <a:solidFill>
                  <a:srgbClr val="806E68"/>
                </a:solidFill>
                <a:latin typeface="Arial" panose="020B0604020202020204" pitchFamily="34" charset="0"/>
              </a:rPr>
              <a:t>движения создаются</a:t>
            </a:r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87F4BC7E-68A6-4616-9376-163E74F34A3A}"/>
              </a:ext>
            </a:extLst>
          </p:cNvPr>
          <p:cNvSpPr/>
          <p:nvPr/>
        </p:nvSpPr>
        <p:spPr>
          <a:xfrm>
            <a:off x="2907792" y="4864608"/>
            <a:ext cx="91440" cy="91440"/>
          </a:xfrm>
          <a:prstGeom prst="ellipse">
            <a:avLst/>
          </a:prstGeom>
          <a:solidFill>
            <a:srgbClr val="C97D72"/>
          </a:solidFill>
          <a:ln w="10160">
            <a:solidFill>
              <a:srgbClr val="C97D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26359FB-0CCB-4B87-AE87-DB3B936223A4}"/>
              </a:ext>
            </a:extLst>
          </p:cNvPr>
          <p:cNvSpPr txBox="1"/>
          <p:nvPr/>
        </p:nvSpPr>
        <p:spPr>
          <a:xfrm>
            <a:off x="3108960" y="4809744"/>
            <a:ext cx="2066544" cy="332399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200">
                <a:solidFill>
                  <a:srgbClr val="806E68"/>
                </a:solidFill>
                <a:latin typeface="Arial" panose="020B0604020202020204" pitchFamily="34" charset="0"/>
              </a:rPr>
              <a:t>связь с документом</a:t>
            </a: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5A35ADBC-6C68-4CF9-88CB-B701B36B395B}"/>
              </a:ext>
            </a:extLst>
          </p:cNvPr>
          <p:cNvSpPr/>
          <p:nvPr/>
        </p:nvSpPr>
        <p:spPr>
          <a:xfrm>
            <a:off x="2907792" y="5138928"/>
            <a:ext cx="91440" cy="91440"/>
          </a:xfrm>
          <a:prstGeom prst="ellipse">
            <a:avLst/>
          </a:prstGeom>
          <a:solidFill>
            <a:srgbClr val="C97D72"/>
          </a:solidFill>
          <a:ln w="10160">
            <a:solidFill>
              <a:srgbClr val="C97D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BE7F55E-9064-4F17-9F11-FDFB3453879F}"/>
              </a:ext>
            </a:extLst>
          </p:cNvPr>
          <p:cNvSpPr txBox="1"/>
          <p:nvPr/>
        </p:nvSpPr>
        <p:spPr>
          <a:xfrm>
            <a:off x="3108960" y="5084064"/>
            <a:ext cx="2066544" cy="517065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200">
                <a:solidFill>
                  <a:srgbClr val="806E68"/>
                </a:solidFill>
                <a:latin typeface="Arial" panose="020B0604020202020204" pitchFamily="34" charset="0"/>
              </a:rPr>
              <a:t>повторная проводка запрещена</a:t>
            </a:r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CE6F7F20-4C20-4BEA-97A1-6B3AE243E2A4}"/>
              </a:ext>
            </a:extLst>
          </p:cNvPr>
          <p:cNvSpPr/>
          <p:nvPr/>
        </p:nvSpPr>
        <p:spPr>
          <a:xfrm>
            <a:off x="5989320" y="4078224"/>
            <a:ext cx="5166360" cy="1353312"/>
          </a:xfrm>
          <a:prstGeom prst="roundRect">
            <a:avLst/>
          </a:prstGeom>
          <a:solidFill>
            <a:srgbClr val="F8E7E2"/>
          </a:solidFill>
          <a:ln w="10160">
            <a:solidFill>
              <a:srgbClr val="F4CB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198B38F-E979-4AFF-889D-65B2480F9887}"/>
              </a:ext>
            </a:extLst>
          </p:cNvPr>
          <p:cNvSpPr txBox="1"/>
          <p:nvPr/>
        </p:nvSpPr>
        <p:spPr>
          <a:xfrm>
            <a:off x="6291072" y="4425696"/>
            <a:ext cx="1508760" cy="670953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700" b="1">
                <a:solidFill>
                  <a:srgbClr val="B85D70"/>
                </a:solidFill>
                <a:latin typeface="Arial" panose="020B0604020202020204" pitchFamily="34" charset="0"/>
              </a:rPr>
              <a:t>Закупочная цена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E083268-5F87-4C58-A280-D91B78A82FF2}"/>
              </a:ext>
            </a:extLst>
          </p:cNvPr>
          <p:cNvSpPr txBox="1"/>
          <p:nvPr/>
        </p:nvSpPr>
        <p:spPr>
          <a:xfrm>
            <a:off x="7818120" y="4315968"/>
            <a:ext cx="2926080" cy="1009507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400">
                <a:solidFill>
                  <a:srgbClr val="342622"/>
                </a:solidFill>
                <a:latin typeface="Arial" panose="020B0604020202020204" pitchFamily="34" charset="0"/>
              </a:rPr>
              <a:t>пересчитывается как средневзвешенная
по принятому количеству и стоимости</a:t>
            </a:r>
          </a:p>
        </p:txBody>
      </p:sp>
    </p:spTree>
    <p:extLst>
      <p:ext uri="{BB962C8B-B14F-4D97-AF65-F5344CB8AC3E}">
        <p14:creationId xmlns:p14="http://schemas.microsoft.com/office/powerpoint/2010/main" val="3896404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5874AD-270A-4588-8696-BC5A88804EDC}"/>
              </a:ext>
            </a:extLst>
          </p:cNvPr>
          <p:cNvSpPr txBox="1"/>
          <p:nvPr/>
        </p:nvSpPr>
        <p:spPr>
          <a:xfrm>
            <a:off x="594360" y="438912"/>
            <a:ext cx="3657600" cy="301621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000" b="1">
                <a:solidFill>
                  <a:srgbClr val="B85D70"/>
                </a:solidFill>
                <a:latin typeface="Arial" panose="020B0604020202020204" pitchFamily="34" charset="0"/>
              </a:rPr>
              <a:t>ФИНАНСЫ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D1853A-26DB-4447-9D7C-39AE1E9EFF26}"/>
              </a:ext>
            </a:extLst>
          </p:cNvPr>
          <p:cNvSpPr txBox="1"/>
          <p:nvPr/>
        </p:nvSpPr>
        <p:spPr>
          <a:xfrm>
            <a:off x="594360" y="713232"/>
            <a:ext cx="10241280" cy="624786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3100">
                <a:solidFill>
                  <a:srgbClr val="342622"/>
                </a:solidFill>
                <a:latin typeface="Georgia" panose="02040502050405020303" pitchFamily="18" charset="0"/>
              </a:rPr>
              <a:t>Контроль оплаты и итоговой суммы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4063A847-B856-4CF6-AFE8-CCBD4D841D25}"/>
              </a:ext>
            </a:extLst>
          </p:cNvPr>
          <p:cNvCxnSpPr/>
          <p:nvPr/>
        </p:nvCxnSpPr>
        <p:spPr>
          <a:xfrm>
            <a:off x="594360" y="1389888"/>
            <a:ext cx="10972800" cy="0"/>
          </a:xfrm>
          <a:prstGeom prst="line">
            <a:avLst/>
          </a:prstGeom>
          <a:ln w="15240">
            <a:solidFill>
              <a:srgbClr val="F4CB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9D2CFF8-9D4A-463A-B627-59D4211251A7}"/>
              </a:ext>
            </a:extLst>
          </p:cNvPr>
          <p:cNvSpPr txBox="1"/>
          <p:nvPr/>
        </p:nvSpPr>
        <p:spPr>
          <a:xfrm>
            <a:off x="10835640" y="6510528"/>
            <a:ext cx="822960" cy="286232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r"/>
            <a:r>
              <a:rPr lang="en-US" sz="900" b="1">
                <a:solidFill>
                  <a:srgbClr val="B85D70"/>
                </a:solidFill>
                <a:latin typeface="Arial" panose="020B0604020202020204" pitchFamily="34" charset="0"/>
              </a:rPr>
              <a:t>LOTUS</a:t>
            </a:r>
            <a:endParaRPr lang="ru-RU" sz="900" b="1">
              <a:solidFill>
                <a:srgbClr val="B85D70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5E1E99-BCE8-461C-A9F4-1C0FD1BBA064}"/>
              </a:ext>
            </a:extLst>
          </p:cNvPr>
          <p:cNvSpPr txBox="1"/>
          <p:nvPr/>
        </p:nvSpPr>
        <p:spPr>
          <a:xfrm>
            <a:off x="438912" y="6510528"/>
            <a:ext cx="320040" cy="286232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900" b="1">
                <a:solidFill>
                  <a:srgbClr val="806E68"/>
                </a:solidFill>
                <a:latin typeface="Arial" panose="020B0604020202020204" pitchFamily="34" charset="0"/>
              </a:rPr>
              <a:t>07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29834B-B70D-48F4-B020-531F82074162}"/>
              </a:ext>
            </a:extLst>
          </p:cNvPr>
          <p:cNvSpPr txBox="1"/>
          <p:nvPr/>
        </p:nvSpPr>
        <p:spPr>
          <a:xfrm>
            <a:off x="713232" y="1755648"/>
            <a:ext cx="2011680" cy="440120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900">
                <a:solidFill>
                  <a:srgbClr val="B85D70"/>
                </a:solidFill>
                <a:latin typeface="Georgia" panose="02040502050405020303" pitchFamily="18" charset="0"/>
              </a:rPr>
              <a:t>Формула заказа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08C25E1B-49FE-4AE3-8B31-E61EB23E7CA1}"/>
              </a:ext>
            </a:extLst>
          </p:cNvPr>
          <p:cNvSpPr/>
          <p:nvPr/>
        </p:nvSpPr>
        <p:spPr>
          <a:xfrm>
            <a:off x="749808" y="2212848"/>
            <a:ext cx="3858768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D8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EE21ED-9ACF-4AD7-B63E-8F98F4ED6AB8}"/>
              </a:ext>
            </a:extLst>
          </p:cNvPr>
          <p:cNvSpPr txBox="1"/>
          <p:nvPr/>
        </p:nvSpPr>
        <p:spPr>
          <a:xfrm>
            <a:off x="969264" y="2322576"/>
            <a:ext cx="1828800" cy="363176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400">
                <a:solidFill>
                  <a:srgbClr val="342622"/>
                </a:solidFill>
                <a:latin typeface="Arial" panose="020B0604020202020204" pitchFamily="34" charset="0"/>
              </a:rPr>
              <a:t>Стоимость товаров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84CBF457-6D97-4A89-97ED-8A45B1A2D1AF}"/>
              </a:ext>
            </a:extLst>
          </p:cNvPr>
          <p:cNvSpPr/>
          <p:nvPr/>
        </p:nvSpPr>
        <p:spPr>
          <a:xfrm>
            <a:off x="749808" y="2724912"/>
            <a:ext cx="3858768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D8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3D2375-2C5A-43FF-923B-3F6E8071CDE2}"/>
              </a:ext>
            </a:extLst>
          </p:cNvPr>
          <p:cNvSpPr txBox="1"/>
          <p:nvPr/>
        </p:nvSpPr>
        <p:spPr>
          <a:xfrm>
            <a:off x="969264" y="2834640"/>
            <a:ext cx="1828800" cy="363176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400">
                <a:solidFill>
                  <a:srgbClr val="342622"/>
                </a:solidFill>
                <a:latin typeface="Arial" panose="020B0604020202020204" pitchFamily="34" charset="0"/>
              </a:rPr>
              <a:t>Стоимость упаковки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5179AFE3-C08E-41D8-81BA-7417AF194FE9}"/>
              </a:ext>
            </a:extLst>
          </p:cNvPr>
          <p:cNvSpPr/>
          <p:nvPr/>
        </p:nvSpPr>
        <p:spPr>
          <a:xfrm>
            <a:off x="749808" y="3236976"/>
            <a:ext cx="3858768" cy="384048"/>
          </a:xfrm>
          <a:prstGeom prst="roundRect">
            <a:avLst/>
          </a:prstGeom>
          <a:solidFill>
            <a:srgbClr val="F8E7E2"/>
          </a:solidFill>
          <a:ln w="10160">
            <a:solidFill>
              <a:srgbClr val="EAD8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329598-55AA-43FD-86A7-AD2BEA7CB271}"/>
              </a:ext>
            </a:extLst>
          </p:cNvPr>
          <p:cNvSpPr txBox="1"/>
          <p:nvPr/>
        </p:nvSpPr>
        <p:spPr>
          <a:xfrm>
            <a:off x="969264" y="3346704"/>
            <a:ext cx="1828800" cy="363176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400">
                <a:solidFill>
                  <a:srgbClr val="342622"/>
                </a:solidFill>
                <a:latin typeface="Arial" panose="020B0604020202020204" pitchFamily="34" charset="0"/>
              </a:rPr>
              <a:t>Стоимость доставки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E1E32F-45BB-4616-A23E-04EB6CFD32D6}"/>
              </a:ext>
            </a:extLst>
          </p:cNvPr>
          <p:cNvSpPr txBox="1"/>
          <p:nvPr/>
        </p:nvSpPr>
        <p:spPr>
          <a:xfrm>
            <a:off x="3986784" y="3346704"/>
            <a:ext cx="292608" cy="424732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700" b="1">
                <a:solidFill>
                  <a:srgbClr val="B85D70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6CDF54F-ACF3-41BC-9C0F-EB4ED23C5D84}"/>
              </a:ext>
            </a:extLst>
          </p:cNvPr>
          <p:cNvSpPr/>
          <p:nvPr/>
        </p:nvSpPr>
        <p:spPr>
          <a:xfrm>
            <a:off x="749808" y="3749040"/>
            <a:ext cx="3858768" cy="384048"/>
          </a:xfrm>
          <a:prstGeom prst="roundRect">
            <a:avLst/>
          </a:prstGeom>
          <a:solidFill>
            <a:srgbClr val="C97D72"/>
          </a:solidFill>
          <a:ln w="10160">
            <a:solidFill>
              <a:srgbClr val="C97D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6104BD-BDAF-4FA7-A13C-4C4C13B32DBD}"/>
              </a:ext>
            </a:extLst>
          </p:cNvPr>
          <p:cNvSpPr txBox="1"/>
          <p:nvPr/>
        </p:nvSpPr>
        <p:spPr>
          <a:xfrm>
            <a:off x="969264" y="3858768"/>
            <a:ext cx="1828800" cy="363176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400" b="1">
                <a:solidFill>
                  <a:srgbClr val="FFFFFF"/>
                </a:solidFill>
                <a:latin typeface="Arial" panose="020B0604020202020204" pitchFamily="34" charset="0"/>
              </a:rPr>
              <a:t>Итог заказа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289E35D4-8B95-4778-B840-F9FDFD2187ED}"/>
              </a:ext>
            </a:extLst>
          </p:cNvPr>
          <p:cNvSpPr/>
          <p:nvPr/>
        </p:nvSpPr>
        <p:spPr>
          <a:xfrm>
            <a:off x="749808" y="4261104"/>
            <a:ext cx="3858768" cy="384048"/>
          </a:xfrm>
          <a:prstGeom prst="roundRect">
            <a:avLst/>
          </a:prstGeom>
          <a:solidFill>
            <a:srgbClr val="F4CBC4"/>
          </a:solidFill>
          <a:ln w="10160">
            <a:solidFill>
              <a:srgbClr val="EAD8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11354B-8437-44BE-89EB-6DA139424729}"/>
              </a:ext>
            </a:extLst>
          </p:cNvPr>
          <p:cNvSpPr txBox="1"/>
          <p:nvPr/>
        </p:nvSpPr>
        <p:spPr>
          <a:xfrm>
            <a:off x="969264" y="4370832"/>
            <a:ext cx="1828800" cy="363176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400">
                <a:solidFill>
                  <a:srgbClr val="342622"/>
                </a:solidFill>
                <a:latin typeface="Arial" panose="020B0604020202020204" pitchFamily="34" charset="0"/>
              </a:rPr>
              <a:t>Платёж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E72210FF-31E8-4426-90C4-9A870633BD07}"/>
              </a:ext>
            </a:extLst>
          </p:cNvPr>
          <p:cNvSpPr/>
          <p:nvPr/>
        </p:nvSpPr>
        <p:spPr>
          <a:xfrm>
            <a:off x="749808" y="4983480"/>
            <a:ext cx="3858768" cy="548640"/>
          </a:xfrm>
          <a:prstGeom prst="roundRect">
            <a:avLst/>
          </a:prstGeom>
          <a:solidFill>
            <a:srgbClr val="342622"/>
          </a:solidFill>
          <a:ln w="10160">
            <a:solidFill>
              <a:srgbClr val="3426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FE5A90-5EC4-4A02-A8AD-9A609FDA9D24}"/>
              </a:ext>
            </a:extLst>
          </p:cNvPr>
          <p:cNvSpPr txBox="1"/>
          <p:nvPr/>
        </p:nvSpPr>
        <p:spPr>
          <a:xfrm>
            <a:off x="960120" y="5175504"/>
            <a:ext cx="3429000" cy="578620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400" b="1">
                <a:solidFill>
                  <a:srgbClr val="FFFFFF"/>
                </a:solidFill>
                <a:latin typeface="Arial" panose="020B0604020202020204" pitchFamily="34" charset="0"/>
              </a:rPr>
              <a:t>Несогласованное изменение → полный откат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741F0F0F-5998-4600-9DA6-1B217212A027}"/>
              </a:ext>
            </a:extLst>
          </p:cNvPr>
          <p:cNvSpPr/>
          <p:nvPr/>
        </p:nvSpPr>
        <p:spPr>
          <a:xfrm>
            <a:off x="5486400" y="1755648"/>
            <a:ext cx="5650992" cy="3840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D8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7073DC-87AA-41E5-94D1-EC7A79514B01}"/>
              </a:ext>
            </a:extLst>
          </p:cNvPr>
          <p:cNvSpPr txBox="1"/>
          <p:nvPr/>
        </p:nvSpPr>
        <p:spPr>
          <a:xfrm>
            <a:off x="5815584" y="2029968"/>
            <a:ext cx="2377440" cy="440120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900">
                <a:solidFill>
                  <a:srgbClr val="342622"/>
                </a:solidFill>
                <a:latin typeface="Georgia" panose="02040502050405020303" pitchFamily="18" charset="0"/>
              </a:rPr>
              <a:t>Состояния платежа</a:t>
            </a: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C90DB131-EA4A-49BE-AC8C-6ABD818F9BC9}"/>
              </a:ext>
            </a:extLst>
          </p:cNvPr>
          <p:cNvSpPr/>
          <p:nvPr/>
        </p:nvSpPr>
        <p:spPr>
          <a:xfrm>
            <a:off x="5833872" y="2578608"/>
            <a:ext cx="2148840" cy="402336"/>
          </a:xfrm>
          <a:prstGeom prst="roundRect">
            <a:avLst/>
          </a:prstGeom>
          <a:solidFill>
            <a:srgbClr val="F8E7E2"/>
          </a:solidFill>
          <a:ln w="10160">
            <a:solidFill>
              <a:srgbClr val="EAD8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6BAA9FF-DC77-4A84-BED7-277D128B2707}"/>
              </a:ext>
            </a:extLst>
          </p:cNvPr>
          <p:cNvSpPr txBox="1"/>
          <p:nvPr/>
        </p:nvSpPr>
        <p:spPr>
          <a:xfrm>
            <a:off x="6016752" y="2697480"/>
            <a:ext cx="1783080" cy="363176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400" b="1">
                <a:solidFill>
                  <a:srgbClr val="342622"/>
                </a:solidFill>
                <a:latin typeface="Arial" panose="020B0604020202020204" pitchFamily="34" charset="0"/>
              </a:rPr>
              <a:t>Ожидает оплаты</a:t>
            </a: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D15F9E58-A20B-43F7-91B2-4CEFE033AB64}"/>
              </a:ext>
            </a:extLst>
          </p:cNvPr>
          <p:cNvSpPr/>
          <p:nvPr/>
        </p:nvSpPr>
        <p:spPr>
          <a:xfrm>
            <a:off x="5833872" y="3191256"/>
            <a:ext cx="2148840" cy="402336"/>
          </a:xfrm>
          <a:prstGeom prst="roundRect">
            <a:avLst/>
          </a:prstGeom>
          <a:solidFill>
            <a:srgbClr val="F4CBC4"/>
          </a:solidFill>
          <a:ln w="10160">
            <a:solidFill>
              <a:srgbClr val="EAD8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E8F004-7B29-40A1-BCA6-7341D73DA3E0}"/>
              </a:ext>
            </a:extLst>
          </p:cNvPr>
          <p:cNvSpPr txBox="1"/>
          <p:nvPr/>
        </p:nvSpPr>
        <p:spPr>
          <a:xfrm>
            <a:off x="6016752" y="3310128"/>
            <a:ext cx="1783080" cy="363176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400" b="1">
                <a:solidFill>
                  <a:srgbClr val="342622"/>
                </a:solidFill>
                <a:latin typeface="Arial" panose="020B0604020202020204" pitchFamily="34" charset="0"/>
              </a:rPr>
              <a:t>Оплачено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675FE66B-E30E-4BC1-8ADC-EF0783F4474C}"/>
              </a:ext>
            </a:extLst>
          </p:cNvPr>
          <p:cNvSpPr/>
          <p:nvPr/>
        </p:nvSpPr>
        <p:spPr>
          <a:xfrm>
            <a:off x="5833872" y="3803904"/>
            <a:ext cx="2148840" cy="402336"/>
          </a:xfrm>
          <a:prstGeom prst="roundRect">
            <a:avLst/>
          </a:prstGeom>
          <a:solidFill>
            <a:srgbClr val="F3E2E0"/>
          </a:solidFill>
          <a:ln w="10160">
            <a:solidFill>
              <a:srgbClr val="EAD8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278880-3936-4049-BB96-1497B608C9D4}"/>
              </a:ext>
            </a:extLst>
          </p:cNvPr>
          <p:cNvSpPr txBox="1"/>
          <p:nvPr/>
        </p:nvSpPr>
        <p:spPr>
          <a:xfrm>
            <a:off x="6016752" y="3922776"/>
            <a:ext cx="1783080" cy="363176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400" b="1">
                <a:solidFill>
                  <a:srgbClr val="342622"/>
                </a:solidFill>
                <a:latin typeface="Arial" panose="020B0604020202020204" pitchFamily="34" charset="0"/>
              </a:rPr>
              <a:t>Возвращено</a:t>
            </a:r>
          </a:p>
        </p:txBody>
      </p: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E67E319A-F668-4498-993E-5F7A2CD8D8F1}"/>
              </a:ext>
            </a:extLst>
          </p:cNvPr>
          <p:cNvCxnSpPr/>
          <p:nvPr/>
        </p:nvCxnSpPr>
        <p:spPr>
          <a:xfrm>
            <a:off x="8156448" y="2788920"/>
            <a:ext cx="621792" cy="0"/>
          </a:xfrm>
          <a:prstGeom prst="line">
            <a:avLst/>
          </a:prstGeom>
          <a:ln w="20320">
            <a:solidFill>
              <a:srgbClr val="C97D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301F8C65-1BFD-4F45-A040-61C4E0D41297}"/>
              </a:ext>
            </a:extLst>
          </p:cNvPr>
          <p:cNvCxnSpPr/>
          <p:nvPr/>
        </p:nvCxnSpPr>
        <p:spPr>
          <a:xfrm>
            <a:off x="8156448" y="3401568"/>
            <a:ext cx="621792" cy="0"/>
          </a:xfrm>
          <a:prstGeom prst="line">
            <a:avLst/>
          </a:prstGeom>
          <a:ln w="20320">
            <a:solidFill>
              <a:srgbClr val="C97D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5319FE51-46C4-470E-8B4A-883B018AA023}"/>
              </a:ext>
            </a:extLst>
          </p:cNvPr>
          <p:cNvCxnSpPr/>
          <p:nvPr/>
        </p:nvCxnSpPr>
        <p:spPr>
          <a:xfrm>
            <a:off x="8156448" y="4014216"/>
            <a:ext cx="621792" cy="0"/>
          </a:xfrm>
          <a:prstGeom prst="line">
            <a:avLst/>
          </a:prstGeom>
          <a:ln w="20320">
            <a:solidFill>
              <a:srgbClr val="C97D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1E096742-68F0-400D-97ED-2051E871A767}"/>
              </a:ext>
            </a:extLst>
          </p:cNvPr>
          <p:cNvSpPr/>
          <p:nvPr/>
        </p:nvSpPr>
        <p:spPr>
          <a:xfrm>
            <a:off x="8814816" y="2596896"/>
            <a:ext cx="1938528" cy="1810512"/>
          </a:xfrm>
          <a:prstGeom prst="roundRect">
            <a:avLst/>
          </a:prstGeom>
          <a:solidFill>
            <a:srgbClr val="F8E7E2"/>
          </a:solidFill>
          <a:ln w="10160">
            <a:solidFill>
              <a:srgbClr val="F4CB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AC57CF5-29AE-4E66-AF62-A960A43B3D23}"/>
              </a:ext>
            </a:extLst>
          </p:cNvPr>
          <p:cNvSpPr txBox="1"/>
          <p:nvPr/>
        </p:nvSpPr>
        <p:spPr>
          <a:xfrm>
            <a:off x="8942832" y="2852928"/>
            <a:ext cx="1682496" cy="355482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350" b="1">
                <a:solidFill>
                  <a:srgbClr val="B85D70"/>
                </a:solidFill>
                <a:latin typeface="Arial" panose="020B0604020202020204" pitchFamily="34" charset="0"/>
              </a:rPr>
              <a:t>Синхронизация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7EE2F68-65C8-48E7-AED2-DA7BD46807AD}"/>
              </a:ext>
            </a:extLst>
          </p:cNvPr>
          <p:cNvSpPr txBox="1"/>
          <p:nvPr/>
        </p:nvSpPr>
        <p:spPr>
          <a:xfrm>
            <a:off x="8942832" y="3310128"/>
            <a:ext cx="1682496" cy="724814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en-US" sz="1250">
                <a:solidFill>
                  <a:srgbClr val="342622"/>
                </a:solidFill>
                <a:latin typeface="Arial" panose="020B0604020202020204" pitchFamily="34" charset="0"/>
              </a:rPr>
              <a:t>pending payment.amount
= total заказа</a:t>
            </a:r>
            <a:endParaRPr lang="ru-RU" sz="1250">
              <a:solidFill>
                <a:srgbClr val="342622"/>
              </a:solidFill>
              <a:latin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CD07046-F222-48AC-A63F-8500772BC30A}"/>
              </a:ext>
            </a:extLst>
          </p:cNvPr>
          <p:cNvSpPr txBox="1"/>
          <p:nvPr/>
        </p:nvSpPr>
        <p:spPr>
          <a:xfrm>
            <a:off x="5870448" y="4892040"/>
            <a:ext cx="1115568" cy="393954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en-US" sz="1600" b="1">
                <a:solidFill>
                  <a:srgbClr val="C97D72"/>
                </a:solidFill>
                <a:latin typeface="Arial" panose="020B0604020202020204" pitchFamily="34" charset="0"/>
              </a:rPr>
              <a:t>cash</a:t>
            </a:r>
            <a:endParaRPr lang="ru-RU" sz="1600" b="1">
              <a:solidFill>
                <a:srgbClr val="C97D72"/>
              </a:solidFill>
              <a:latin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CE8E7BF-CF54-44B4-A943-AC39FC8A40CC}"/>
              </a:ext>
            </a:extLst>
          </p:cNvPr>
          <p:cNvSpPr txBox="1"/>
          <p:nvPr/>
        </p:nvSpPr>
        <p:spPr>
          <a:xfrm>
            <a:off x="7223760" y="4892040"/>
            <a:ext cx="1115568" cy="393954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en-US" sz="1600" b="1">
                <a:solidFill>
                  <a:srgbClr val="C97D72"/>
                </a:solidFill>
                <a:latin typeface="Arial" panose="020B0604020202020204" pitchFamily="34" charset="0"/>
              </a:rPr>
              <a:t>transfer</a:t>
            </a:r>
            <a:endParaRPr lang="ru-RU" sz="1600" b="1">
              <a:solidFill>
                <a:srgbClr val="C97D72"/>
              </a:solidFill>
              <a:latin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F2BF6E6-1270-4EE6-8B09-08FC6EDB46A2}"/>
              </a:ext>
            </a:extLst>
          </p:cNvPr>
          <p:cNvSpPr txBox="1"/>
          <p:nvPr/>
        </p:nvSpPr>
        <p:spPr>
          <a:xfrm>
            <a:off x="8577072" y="4919472"/>
            <a:ext cx="2011680" cy="747897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300" i="1">
                <a:solidFill>
                  <a:srgbClr val="806E68"/>
                </a:solidFill>
                <a:latin typeface="Arial" panose="020B0604020202020204" pitchFamily="34" charset="0"/>
              </a:rPr>
              <a:t>оба способа продолжают работать</a:t>
            </a:r>
          </a:p>
        </p:txBody>
      </p:sp>
    </p:spTree>
    <p:extLst>
      <p:ext uri="{BB962C8B-B14F-4D97-AF65-F5344CB8AC3E}">
        <p14:creationId xmlns:p14="http://schemas.microsoft.com/office/powerpoint/2010/main" val="2517291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FDFC0F-E0B1-4A9C-B84E-C1F4B0DBA9FF}"/>
              </a:ext>
            </a:extLst>
          </p:cNvPr>
          <p:cNvSpPr txBox="1"/>
          <p:nvPr/>
        </p:nvSpPr>
        <p:spPr>
          <a:xfrm>
            <a:off x="594360" y="438912"/>
            <a:ext cx="3657600" cy="301621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000" b="1">
                <a:solidFill>
                  <a:srgbClr val="B85D70"/>
                </a:solidFill>
                <a:latin typeface="Arial" panose="020B0604020202020204" pitchFamily="34" charset="0"/>
              </a:rPr>
              <a:t>ДОСТАВКА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C99929-EAE8-4A02-99B7-1F811C451CC3}"/>
              </a:ext>
            </a:extLst>
          </p:cNvPr>
          <p:cNvSpPr txBox="1"/>
          <p:nvPr/>
        </p:nvSpPr>
        <p:spPr>
          <a:xfrm>
            <a:off x="594360" y="713232"/>
            <a:ext cx="10241280" cy="624786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3100">
                <a:solidFill>
                  <a:srgbClr val="342622"/>
                </a:solidFill>
                <a:latin typeface="Georgia" panose="02040502050405020303" pitchFamily="18" charset="0"/>
              </a:rPr>
              <a:t>Управление доставкой и курьерами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39F5444-CB0B-4C60-9F65-E759C0A90106}"/>
              </a:ext>
            </a:extLst>
          </p:cNvPr>
          <p:cNvCxnSpPr/>
          <p:nvPr/>
        </p:nvCxnSpPr>
        <p:spPr>
          <a:xfrm>
            <a:off x="594360" y="1389888"/>
            <a:ext cx="10972800" cy="0"/>
          </a:xfrm>
          <a:prstGeom prst="line">
            <a:avLst/>
          </a:prstGeom>
          <a:ln w="15240">
            <a:solidFill>
              <a:srgbClr val="F4CB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BCAD27C-AE06-4739-913D-99DCBDFB8E71}"/>
              </a:ext>
            </a:extLst>
          </p:cNvPr>
          <p:cNvSpPr txBox="1"/>
          <p:nvPr/>
        </p:nvSpPr>
        <p:spPr>
          <a:xfrm>
            <a:off x="10835640" y="6510528"/>
            <a:ext cx="822960" cy="286232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r"/>
            <a:r>
              <a:rPr lang="en-US" sz="900" b="1">
                <a:solidFill>
                  <a:srgbClr val="B85D70"/>
                </a:solidFill>
                <a:latin typeface="Arial" panose="020B0604020202020204" pitchFamily="34" charset="0"/>
              </a:rPr>
              <a:t>LOTUS</a:t>
            </a:r>
            <a:endParaRPr lang="ru-RU" sz="900" b="1">
              <a:solidFill>
                <a:srgbClr val="B85D70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9AFE9-A9AD-4B3F-9338-B615C8D1CC58}"/>
              </a:ext>
            </a:extLst>
          </p:cNvPr>
          <p:cNvSpPr txBox="1"/>
          <p:nvPr/>
        </p:nvSpPr>
        <p:spPr>
          <a:xfrm>
            <a:off x="438912" y="6510528"/>
            <a:ext cx="320040" cy="286232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900" b="1">
                <a:solidFill>
                  <a:srgbClr val="806E68"/>
                </a:solidFill>
                <a:latin typeface="Arial" panose="020B0604020202020204" pitchFamily="34" charset="0"/>
              </a:rPr>
              <a:t>08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7CA6F9-A131-4669-A52B-C85A93255911}"/>
              </a:ext>
            </a:extLst>
          </p:cNvPr>
          <p:cNvSpPr txBox="1"/>
          <p:nvPr/>
        </p:nvSpPr>
        <p:spPr>
          <a:xfrm>
            <a:off x="658368" y="1645920"/>
            <a:ext cx="7772400" cy="424732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700">
                <a:solidFill>
                  <a:srgbClr val="806E68"/>
                </a:solidFill>
                <a:latin typeface="Arial" panose="020B0604020202020204" pitchFamily="34" charset="0"/>
              </a:rPr>
              <a:t>Разные способы получения → разные разрешённые переходы.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1E959176-792E-411D-95B7-AF68DF44961A}"/>
              </a:ext>
            </a:extLst>
          </p:cNvPr>
          <p:cNvSpPr/>
          <p:nvPr/>
        </p:nvSpPr>
        <p:spPr>
          <a:xfrm>
            <a:off x="713232" y="2212848"/>
            <a:ext cx="4983480" cy="2944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D8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5E6FB7-47F0-4A73-A401-AC3297FC92F8}"/>
              </a:ext>
            </a:extLst>
          </p:cNvPr>
          <p:cNvSpPr txBox="1"/>
          <p:nvPr/>
        </p:nvSpPr>
        <p:spPr>
          <a:xfrm>
            <a:off x="1005840" y="2487168"/>
            <a:ext cx="1828800" cy="440120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900">
                <a:solidFill>
                  <a:srgbClr val="B85D70"/>
                </a:solidFill>
                <a:latin typeface="Georgia" panose="02040502050405020303" pitchFamily="18" charset="0"/>
              </a:rPr>
              <a:t>Самовывоз</a:t>
            </a:r>
          </a:p>
        </p:txBody>
      </p:sp>
      <p:sp>
        <p:nvSpPr>
          <p:cNvPr id="10" name="Стрелка: шеврон 9">
            <a:extLst>
              <a:ext uri="{FF2B5EF4-FFF2-40B4-BE49-F238E27FC236}">
                <a16:creationId xmlns:a16="http://schemas.microsoft.com/office/drawing/2014/main" id="{A9EA467C-5F5A-4076-959A-56F3C83CB0C1}"/>
              </a:ext>
            </a:extLst>
          </p:cNvPr>
          <p:cNvSpPr/>
          <p:nvPr/>
        </p:nvSpPr>
        <p:spPr>
          <a:xfrm>
            <a:off x="1042416" y="3145536"/>
            <a:ext cx="1417320" cy="530352"/>
          </a:xfrm>
          <a:prstGeom prst="chevron">
            <a:avLst/>
          </a:prstGeom>
          <a:solidFill>
            <a:srgbClr val="F4CBC4"/>
          </a:solidFill>
          <a:ln w="1016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5545DB-7D77-46CE-BE53-4E27D8EB9B23}"/>
              </a:ext>
            </a:extLst>
          </p:cNvPr>
          <p:cNvSpPr txBox="1"/>
          <p:nvPr/>
        </p:nvSpPr>
        <p:spPr>
          <a:xfrm>
            <a:off x="1133856" y="3264408"/>
            <a:ext cx="1234440" cy="264688"/>
          </a:xfrm>
          <a:prstGeom prst="rect">
            <a:avLst/>
          </a:prstGeom>
          <a:noFill/>
        </p:spPr>
        <p:txBody>
          <a:bodyPr vert="horz" wrap="square" lIns="9144" tIns="9144" rIns="9144" bIns="9144" rtlCol="0" anchor="t">
            <a:spAutoFit/>
          </a:bodyPr>
          <a:lstStyle/>
          <a:p>
            <a:pPr algn="ctr"/>
            <a:r>
              <a:rPr lang="ru-RU" sz="1600" b="1">
                <a:solidFill>
                  <a:srgbClr val="342622"/>
                </a:solidFill>
                <a:latin typeface="Arial" panose="020B0604020202020204" pitchFamily="34" charset="0"/>
              </a:rPr>
              <a:t>Готов</a:t>
            </a:r>
          </a:p>
        </p:txBody>
      </p:sp>
      <p:sp>
        <p:nvSpPr>
          <p:cNvPr id="12" name="Стрелка: шеврон 11">
            <a:extLst>
              <a:ext uri="{FF2B5EF4-FFF2-40B4-BE49-F238E27FC236}">
                <a16:creationId xmlns:a16="http://schemas.microsoft.com/office/drawing/2014/main" id="{076B404D-1F66-4F32-982F-72871FF37EB4}"/>
              </a:ext>
            </a:extLst>
          </p:cNvPr>
          <p:cNvSpPr/>
          <p:nvPr/>
        </p:nvSpPr>
        <p:spPr>
          <a:xfrm>
            <a:off x="3017520" y="3145536"/>
            <a:ext cx="1572768" cy="530352"/>
          </a:xfrm>
          <a:prstGeom prst="chevron">
            <a:avLst/>
          </a:prstGeom>
          <a:solidFill>
            <a:srgbClr val="C97D72"/>
          </a:solidFill>
          <a:ln w="1016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8E7BEF-F303-468C-AC7B-94B72A7BC9AC}"/>
              </a:ext>
            </a:extLst>
          </p:cNvPr>
          <p:cNvSpPr txBox="1"/>
          <p:nvPr/>
        </p:nvSpPr>
        <p:spPr>
          <a:xfrm>
            <a:off x="3108960" y="3264408"/>
            <a:ext cx="1389888" cy="249299"/>
          </a:xfrm>
          <a:prstGeom prst="rect">
            <a:avLst/>
          </a:prstGeom>
          <a:noFill/>
        </p:spPr>
        <p:txBody>
          <a:bodyPr vert="horz" wrap="square" lIns="9144" tIns="9144" rIns="9144" bIns="9144" rtlCol="0" anchor="t">
            <a:spAutoFit/>
          </a:bodyPr>
          <a:lstStyle/>
          <a:p>
            <a:pPr algn="ctr"/>
            <a:r>
              <a:rPr lang="ru-RU" sz="1500" b="1">
                <a:solidFill>
                  <a:srgbClr val="FFFFFF"/>
                </a:solidFill>
                <a:latin typeface="Arial" panose="020B0604020202020204" pitchFamily="34" charset="0"/>
              </a:rPr>
              <a:t>Выполнен</a:t>
            </a: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75A1E234-7C2B-46AA-A8CA-304B8F611969}"/>
              </a:ext>
            </a:extLst>
          </p:cNvPr>
          <p:cNvCxnSpPr/>
          <p:nvPr/>
        </p:nvCxnSpPr>
        <p:spPr>
          <a:xfrm>
            <a:off x="2459736" y="3410712"/>
            <a:ext cx="502920" cy="0"/>
          </a:xfrm>
          <a:prstGeom prst="line">
            <a:avLst/>
          </a:prstGeom>
          <a:ln w="22860">
            <a:solidFill>
              <a:srgbClr val="C97D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BE5B316-FE24-4D60-A54B-083BFE6FD60D}"/>
              </a:ext>
            </a:extLst>
          </p:cNvPr>
          <p:cNvSpPr txBox="1"/>
          <p:nvPr/>
        </p:nvSpPr>
        <p:spPr>
          <a:xfrm>
            <a:off x="1097280" y="4096512"/>
            <a:ext cx="3566160" cy="393954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600" b="1">
                <a:solidFill>
                  <a:srgbClr val="342622"/>
                </a:solidFill>
                <a:latin typeface="Arial" panose="020B0604020202020204" pitchFamily="34" charset="0"/>
              </a:rPr>
              <a:t>Стоимость доставки = 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DC3B58-2843-4305-8871-AEB372E69EE5}"/>
              </a:ext>
            </a:extLst>
          </p:cNvPr>
          <p:cNvSpPr txBox="1"/>
          <p:nvPr/>
        </p:nvSpPr>
        <p:spPr>
          <a:xfrm>
            <a:off x="1097280" y="4517136"/>
            <a:ext cx="3566160" cy="363176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400">
                <a:solidFill>
                  <a:srgbClr val="806E68"/>
                </a:solidFill>
                <a:latin typeface="Arial" panose="020B0604020202020204" pitchFamily="34" charset="0"/>
              </a:rPr>
              <a:t>этап «Доставляется» отсутствует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9C62BBD-864B-4C7D-BFF4-665240DC9407}"/>
              </a:ext>
            </a:extLst>
          </p:cNvPr>
          <p:cNvSpPr/>
          <p:nvPr/>
        </p:nvSpPr>
        <p:spPr>
          <a:xfrm>
            <a:off x="5961888" y="2212848"/>
            <a:ext cx="5175504" cy="2944368"/>
          </a:xfrm>
          <a:prstGeom prst="roundRect">
            <a:avLst/>
          </a:prstGeom>
          <a:solidFill>
            <a:srgbClr val="F8E7E2"/>
          </a:solidFill>
          <a:ln w="10160">
            <a:solidFill>
              <a:srgbClr val="F4CB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E75972-484D-4342-B358-DC1C72FFB79C}"/>
              </a:ext>
            </a:extLst>
          </p:cNvPr>
          <p:cNvSpPr txBox="1"/>
          <p:nvPr/>
        </p:nvSpPr>
        <p:spPr>
          <a:xfrm>
            <a:off x="6272784" y="2487168"/>
            <a:ext cx="1828800" cy="440120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900">
                <a:solidFill>
                  <a:srgbClr val="B85D70"/>
                </a:solidFill>
                <a:latin typeface="Georgia" panose="02040502050405020303" pitchFamily="18" charset="0"/>
              </a:rPr>
              <a:t>Доставка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2CF62117-EB7E-43F7-881C-64E4472835BB}"/>
              </a:ext>
            </a:extLst>
          </p:cNvPr>
          <p:cNvSpPr/>
          <p:nvPr/>
        </p:nvSpPr>
        <p:spPr>
          <a:xfrm>
            <a:off x="6291072" y="3145536"/>
            <a:ext cx="1060704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4CB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D86E02-8D55-4C55-9EA8-F146313F6610}"/>
              </a:ext>
            </a:extLst>
          </p:cNvPr>
          <p:cNvSpPr txBox="1"/>
          <p:nvPr/>
        </p:nvSpPr>
        <p:spPr>
          <a:xfrm>
            <a:off x="6327648" y="3273552"/>
            <a:ext cx="987552" cy="470898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050" b="1">
                <a:solidFill>
                  <a:srgbClr val="342622"/>
                </a:solidFill>
                <a:latin typeface="Arial" panose="020B0604020202020204" pitchFamily="34" charset="0"/>
              </a:rPr>
              <a:t>Ожидает
назначения</a:t>
            </a:r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DA8ACA9C-363C-4074-8267-75E6D4869D41}"/>
              </a:ext>
            </a:extLst>
          </p:cNvPr>
          <p:cNvCxnSpPr/>
          <p:nvPr/>
        </p:nvCxnSpPr>
        <p:spPr>
          <a:xfrm>
            <a:off x="7351776" y="3410712"/>
            <a:ext cx="182880" cy="0"/>
          </a:xfrm>
          <a:prstGeom prst="line">
            <a:avLst/>
          </a:prstGeom>
          <a:ln w="19050">
            <a:solidFill>
              <a:srgbClr val="C97D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6F7AD591-E02C-4A4E-BE31-AFB040092A72}"/>
              </a:ext>
            </a:extLst>
          </p:cNvPr>
          <p:cNvSpPr/>
          <p:nvPr/>
        </p:nvSpPr>
        <p:spPr>
          <a:xfrm>
            <a:off x="7662672" y="3145536"/>
            <a:ext cx="1060704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4CB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F68A9A-4583-4CD2-9E43-1CB92A4A8B75}"/>
              </a:ext>
            </a:extLst>
          </p:cNvPr>
          <p:cNvSpPr txBox="1"/>
          <p:nvPr/>
        </p:nvSpPr>
        <p:spPr>
          <a:xfrm>
            <a:off x="7699248" y="3273552"/>
            <a:ext cx="987552" cy="309315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050" b="1">
                <a:solidFill>
                  <a:srgbClr val="342622"/>
                </a:solidFill>
                <a:latin typeface="Arial" panose="020B0604020202020204" pitchFamily="34" charset="0"/>
              </a:rPr>
              <a:t>Назначена</a:t>
            </a:r>
          </a:p>
        </p:txBody>
      </p: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44C37347-8F4A-4068-B2BD-BA52F7C75721}"/>
              </a:ext>
            </a:extLst>
          </p:cNvPr>
          <p:cNvCxnSpPr/>
          <p:nvPr/>
        </p:nvCxnSpPr>
        <p:spPr>
          <a:xfrm>
            <a:off x="8723376" y="3410712"/>
            <a:ext cx="182880" cy="0"/>
          </a:xfrm>
          <a:prstGeom prst="line">
            <a:avLst/>
          </a:prstGeom>
          <a:ln w="19050">
            <a:solidFill>
              <a:srgbClr val="C97D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4A682FF4-EA3F-4CFB-948B-FF2F77072E35}"/>
              </a:ext>
            </a:extLst>
          </p:cNvPr>
          <p:cNvSpPr/>
          <p:nvPr/>
        </p:nvSpPr>
        <p:spPr>
          <a:xfrm>
            <a:off x="9015984" y="3145536"/>
            <a:ext cx="1060704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4CB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E5090C-A0A7-4F01-B5F1-C77D89BB522B}"/>
              </a:ext>
            </a:extLst>
          </p:cNvPr>
          <p:cNvSpPr txBox="1"/>
          <p:nvPr/>
        </p:nvSpPr>
        <p:spPr>
          <a:xfrm>
            <a:off x="9052560" y="3273552"/>
            <a:ext cx="987552" cy="309315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050" b="1">
                <a:solidFill>
                  <a:srgbClr val="342622"/>
                </a:solidFill>
                <a:latin typeface="Arial" panose="020B0604020202020204" pitchFamily="34" charset="0"/>
              </a:rPr>
              <a:t>В пути</a:t>
            </a:r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99E6457F-CBB5-4EF5-ADC1-C8E4AFADED84}"/>
              </a:ext>
            </a:extLst>
          </p:cNvPr>
          <p:cNvCxnSpPr/>
          <p:nvPr/>
        </p:nvCxnSpPr>
        <p:spPr>
          <a:xfrm>
            <a:off x="10076688" y="3410712"/>
            <a:ext cx="182880" cy="0"/>
          </a:xfrm>
          <a:prstGeom prst="line">
            <a:avLst/>
          </a:prstGeom>
          <a:ln w="19050">
            <a:solidFill>
              <a:srgbClr val="C97D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1B1B7283-9C01-4044-B08B-10360F43E339}"/>
              </a:ext>
            </a:extLst>
          </p:cNvPr>
          <p:cNvSpPr/>
          <p:nvPr/>
        </p:nvSpPr>
        <p:spPr>
          <a:xfrm>
            <a:off x="10259568" y="3145536"/>
            <a:ext cx="1060705" cy="530352"/>
          </a:xfrm>
          <a:prstGeom prst="roundRect">
            <a:avLst/>
          </a:prstGeom>
          <a:solidFill>
            <a:srgbClr val="C97D72"/>
          </a:solidFill>
          <a:ln w="10160">
            <a:solidFill>
              <a:srgbClr val="F4CB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F4DCDC7-2849-4697-B6D5-9CADCFE9D701}"/>
              </a:ext>
            </a:extLst>
          </p:cNvPr>
          <p:cNvSpPr txBox="1"/>
          <p:nvPr/>
        </p:nvSpPr>
        <p:spPr>
          <a:xfrm>
            <a:off x="10296144" y="3273552"/>
            <a:ext cx="987552" cy="309315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050" b="1">
                <a:solidFill>
                  <a:srgbClr val="FFFFFF"/>
                </a:solidFill>
                <a:latin typeface="Arial" panose="020B0604020202020204" pitchFamily="34" charset="0"/>
              </a:rPr>
              <a:t>Доставлена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73FCE69-7586-4489-A320-C1ACDCCC81C2}"/>
              </a:ext>
            </a:extLst>
          </p:cNvPr>
          <p:cNvSpPr txBox="1"/>
          <p:nvPr/>
        </p:nvSpPr>
        <p:spPr>
          <a:xfrm>
            <a:off x="6327648" y="4133088"/>
            <a:ext cx="4315968" cy="393954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600" b="1">
                <a:solidFill>
                  <a:srgbClr val="342622"/>
                </a:solidFill>
                <a:latin typeface="Arial" panose="020B0604020202020204" pitchFamily="34" charset="0"/>
              </a:rPr>
              <a:t>Курьер видит только свои назначения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11C2FA1-EE9D-4EE6-A16B-0E90B5B94B97}"/>
              </a:ext>
            </a:extLst>
          </p:cNvPr>
          <p:cNvSpPr txBox="1"/>
          <p:nvPr/>
        </p:nvSpPr>
        <p:spPr>
          <a:xfrm>
            <a:off x="6327648" y="4535424"/>
            <a:ext cx="4315968" cy="578620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400">
                <a:solidFill>
                  <a:srgbClr val="806E68"/>
                </a:solidFill>
                <a:latin typeface="Arial" panose="020B0604020202020204" pitchFamily="34" charset="0"/>
              </a:rPr>
              <a:t>сервер проверяет роль, владельца доставки
и допустимость перехода</a:t>
            </a:r>
          </a:p>
        </p:txBody>
      </p:sp>
    </p:spTree>
    <p:extLst>
      <p:ext uri="{BB962C8B-B14F-4D97-AF65-F5344CB8AC3E}">
        <p14:creationId xmlns:p14="http://schemas.microsoft.com/office/powerpoint/2010/main" val="1712174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360610-BF86-46F5-B63C-66FBC903A98A}"/>
              </a:ext>
            </a:extLst>
          </p:cNvPr>
          <p:cNvSpPr txBox="1"/>
          <p:nvPr/>
        </p:nvSpPr>
        <p:spPr>
          <a:xfrm>
            <a:off x="594360" y="438912"/>
            <a:ext cx="3657600" cy="301621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000" b="1">
                <a:solidFill>
                  <a:srgbClr val="B85D70"/>
                </a:solidFill>
                <a:latin typeface="Arial" panose="020B0604020202020204" pitchFamily="34" charset="0"/>
              </a:rPr>
              <a:t>ПЕРСОНАЛ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F0D67C-A8F5-4F13-8BBF-EEBCC39ECDEA}"/>
              </a:ext>
            </a:extLst>
          </p:cNvPr>
          <p:cNvSpPr txBox="1"/>
          <p:nvPr/>
        </p:nvSpPr>
        <p:spPr>
          <a:xfrm>
            <a:off x="594360" y="713232"/>
            <a:ext cx="10241280" cy="624786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3100">
                <a:solidFill>
                  <a:srgbClr val="342622"/>
                </a:solidFill>
                <a:latin typeface="Georgia" panose="02040502050405020303" pitchFamily="18" charset="0"/>
              </a:rPr>
              <a:t>Разделение доступа сотрудников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2F8D2866-CA60-4E91-8F11-C0F8068B6BE9}"/>
              </a:ext>
            </a:extLst>
          </p:cNvPr>
          <p:cNvCxnSpPr/>
          <p:nvPr/>
        </p:nvCxnSpPr>
        <p:spPr>
          <a:xfrm>
            <a:off x="594360" y="1389888"/>
            <a:ext cx="10972800" cy="0"/>
          </a:xfrm>
          <a:prstGeom prst="line">
            <a:avLst/>
          </a:prstGeom>
          <a:ln w="15240">
            <a:solidFill>
              <a:srgbClr val="F4CB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69B03A2-BFE6-4328-9455-740CEC98336E}"/>
              </a:ext>
            </a:extLst>
          </p:cNvPr>
          <p:cNvSpPr txBox="1"/>
          <p:nvPr/>
        </p:nvSpPr>
        <p:spPr>
          <a:xfrm>
            <a:off x="10835640" y="6510528"/>
            <a:ext cx="822960" cy="286232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r"/>
            <a:r>
              <a:rPr lang="en-US" sz="900" b="1">
                <a:solidFill>
                  <a:srgbClr val="B85D70"/>
                </a:solidFill>
                <a:latin typeface="Arial" panose="020B0604020202020204" pitchFamily="34" charset="0"/>
              </a:rPr>
              <a:t>LOTUS</a:t>
            </a:r>
            <a:endParaRPr lang="ru-RU" sz="900" b="1">
              <a:solidFill>
                <a:srgbClr val="B85D70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49A86D-68A4-49EF-8923-BB3CA73EDD9C}"/>
              </a:ext>
            </a:extLst>
          </p:cNvPr>
          <p:cNvSpPr txBox="1"/>
          <p:nvPr/>
        </p:nvSpPr>
        <p:spPr>
          <a:xfrm>
            <a:off x="438912" y="6510528"/>
            <a:ext cx="320040" cy="286232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900" b="1">
                <a:solidFill>
                  <a:srgbClr val="806E68"/>
                </a:solidFill>
                <a:latin typeface="Arial" panose="020B0604020202020204" pitchFamily="34" charset="0"/>
              </a:rPr>
              <a:t>09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E150B2-27AE-4F16-ACB5-1163616437FB}"/>
              </a:ext>
            </a:extLst>
          </p:cNvPr>
          <p:cNvSpPr txBox="1"/>
          <p:nvPr/>
        </p:nvSpPr>
        <p:spPr>
          <a:xfrm>
            <a:off x="658368" y="1645920"/>
            <a:ext cx="7680960" cy="424732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700">
                <a:solidFill>
                  <a:srgbClr val="806E68"/>
                </a:solidFill>
                <a:latin typeface="Arial" panose="020B0604020202020204" pitchFamily="34" charset="0"/>
              </a:rPr>
              <a:t>Права проверяются на странице, в server action и в API.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E2A6FD98-E494-4699-BEA4-E3D64DE91454}"/>
              </a:ext>
            </a:extLst>
          </p:cNvPr>
          <p:cNvSpPr/>
          <p:nvPr/>
        </p:nvSpPr>
        <p:spPr>
          <a:xfrm>
            <a:off x="658368" y="2176272"/>
            <a:ext cx="6748272" cy="3218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D8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74D376B7-B7EF-4E5A-988F-7128F2DE389F}"/>
              </a:ext>
            </a:extLst>
          </p:cNvPr>
          <p:cNvSpPr/>
          <p:nvPr/>
        </p:nvSpPr>
        <p:spPr>
          <a:xfrm>
            <a:off x="658368" y="2176272"/>
            <a:ext cx="6748272" cy="512064"/>
          </a:xfrm>
          <a:prstGeom prst="roundRect">
            <a:avLst/>
          </a:prstGeom>
          <a:solidFill>
            <a:srgbClr val="342622"/>
          </a:solidFill>
          <a:ln w="10160">
            <a:solidFill>
              <a:srgbClr val="3426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72CF9C-48AE-40E5-9EAC-B76E586DF459}"/>
              </a:ext>
            </a:extLst>
          </p:cNvPr>
          <p:cNvSpPr txBox="1"/>
          <p:nvPr/>
        </p:nvSpPr>
        <p:spPr>
          <a:xfrm>
            <a:off x="914400" y="2350008"/>
            <a:ext cx="1417320" cy="363176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400" b="1">
                <a:solidFill>
                  <a:srgbClr val="FFFFFF"/>
                </a:solidFill>
                <a:latin typeface="Arial" panose="020B0604020202020204" pitchFamily="34" charset="0"/>
              </a:rPr>
              <a:t>Роль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8601B2-2DB0-444D-92FC-DE7B990E00E5}"/>
              </a:ext>
            </a:extLst>
          </p:cNvPr>
          <p:cNvSpPr txBox="1"/>
          <p:nvPr/>
        </p:nvSpPr>
        <p:spPr>
          <a:xfrm>
            <a:off x="2450592" y="2350008"/>
            <a:ext cx="4407408" cy="363176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400" b="1">
                <a:solidFill>
                  <a:srgbClr val="FFFFFF"/>
                </a:solidFill>
                <a:latin typeface="Arial" panose="020B0604020202020204" pitchFamily="34" charset="0"/>
              </a:rPr>
              <a:t>Основные возможности</a:t>
            </a: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9BEEFC41-3C74-4C61-AD9C-8BD77152CBE8}"/>
              </a:ext>
            </a:extLst>
          </p:cNvPr>
          <p:cNvCxnSpPr/>
          <p:nvPr/>
        </p:nvCxnSpPr>
        <p:spPr>
          <a:xfrm>
            <a:off x="896112" y="2688336"/>
            <a:ext cx="6254496" cy="0"/>
          </a:xfrm>
          <a:prstGeom prst="line">
            <a:avLst/>
          </a:prstGeom>
          <a:ln w="10160">
            <a:solidFill>
              <a:srgbClr val="EAD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0820633-189E-4A87-B25E-44ADE51F2486}"/>
              </a:ext>
            </a:extLst>
          </p:cNvPr>
          <p:cNvSpPr txBox="1"/>
          <p:nvPr/>
        </p:nvSpPr>
        <p:spPr>
          <a:xfrm>
            <a:off x="914400" y="2834640"/>
            <a:ext cx="1417320" cy="747897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300" b="1">
                <a:solidFill>
                  <a:srgbClr val="B85D70"/>
                </a:solidFill>
                <a:latin typeface="Arial" panose="020B0604020202020204" pitchFamily="34" charset="0"/>
              </a:rPr>
              <a:t>Супер-администратор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97A441-736C-4581-95DD-A9DC7EDCF94D}"/>
              </a:ext>
            </a:extLst>
          </p:cNvPr>
          <p:cNvSpPr txBox="1"/>
          <p:nvPr/>
        </p:nvSpPr>
        <p:spPr>
          <a:xfrm>
            <a:off x="2450592" y="2834640"/>
            <a:ext cx="4480560" cy="347788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300">
                <a:solidFill>
                  <a:srgbClr val="806E68"/>
                </a:solidFill>
                <a:latin typeface="Arial" panose="020B0604020202020204" pitchFamily="34" charset="0"/>
              </a:rPr>
              <a:t>полный доступ, сотрудники, аудит</a:t>
            </a: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4581297A-251B-4BC3-A7D3-582C1AED97F6}"/>
              </a:ext>
            </a:extLst>
          </p:cNvPr>
          <p:cNvCxnSpPr/>
          <p:nvPr/>
        </p:nvCxnSpPr>
        <p:spPr>
          <a:xfrm>
            <a:off x="896112" y="3328416"/>
            <a:ext cx="6254496" cy="0"/>
          </a:xfrm>
          <a:prstGeom prst="line">
            <a:avLst/>
          </a:prstGeom>
          <a:ln w="10160">
            <a:solidFill>
              <a:srgbClr val="EAD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CE6E94D-93BA-4D1F-819F-CAA6B3984C7E}"/>
              </a:ext>
            </a:extLst>
          </p:cNvPr>
          <p:cNvSpPr txBox="1"/>
          <p:nvPr/>
        </p:nvSpPr>
        <p:spPr>
          <a:xfrm>
            <a:off x="914400" y="3474720"/>
            <a:ext cx="1417320" cy="347788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300" b="1">
                <a:solidFill>
                  <a:srgbClr val="342622"/>
                </a:solidFill>
                <a:latin typeface="Arial" panose="020B0604020202020204" pitchFamily="34" charset="0"/>
              </a:rPr>
              <a:t>Флорист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B250C4-1B73-48BA-88E4-C51CAC811D7F}"/>
              </a:ext>
            </a:extLst>
          </p:cNvPr>
          <p:cNvSpPr txBox="1"/>
          <p:nvPr/>
        </p:nvSpPr>
        <p:spPr>
          <a:xfrm>
            <a:off x="2450592" y="3474720"/>
            <a:ext cx="4480560" cy="347788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300">
                <a:solidFill>
                  <a:srgbClr val="806E68"/>
                </a:solidFill>
                <a:latin typeface="Arial" panose="020B0604020202020204" pitchFamily="34" charset="0"/>
              </a:rPr>
              <a:t>заказы, оплаты, букеты, доступные остатки</a:t>
            </a:r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05AAD88A-BACE-46C8-8A36-E194D0663532}"/>
              </a:ext>
            </a:extLst>
          </p:cNvPr>
          <p:cNvCxnSpPr/>
          <p:nvPr/>
        </p:nvCxnSpPr>
        <p:spPr>
          <a:xfrm>
            <a:off x="896112" y="3968496"/>
            <a:ext cx="6254496" cy="0"/>
          </a:xfrm>
          <a:prstGeom prst="line">
            <a:avLst/>
          </a:prstGeom>
          <a:ln w="10160">
            <a:solidFill>
              <a:srgbClr val="EAD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A88A24E-B670-4FA3-A6AF-12AA295ABB94}"/>
              </a:ext>
            </a:extLst>
          </p:cNvPr>
          <p:cNvSpPr txBox="1"/>
          <p:nvPr/>
        </p:nvSpPr>
        <p:spPr>
          <a:xfrm>
            <a:off x="914400" y="4114800"/>
            <a:ext cx="1417320" cy="547842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300" b="1">
                <a:solidFill>
                  <a:srgbClr val="342622"/>
                </a:solidFill>
                <a:latin typeface="Arial" panose="020B0604020202020204" pitchFamily="34" charset="0"/>
              </a:rPr>
              <a:t>Менеджер склада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2E9B8C-C697-4836-B8B5-E7CF4F119BB0}"/>
              </a:ext>
            </a:extLst>
          </p:cNvPr>
          <p:cNvSpPr txBox="1"/>
          <p:nvPr/>
        </p:nvSpPr>
        <p:spPr>
          <a:xfrm>
            <a:off x="2450592" y="4114800"/>
            <a:ext cx="4480560" cy="347788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300">
                <a:solidFill>
                  <a:srgbClr val="806E68"/>
                </a:solidFill>
                <a:latin typeface="Arial" panose="020B0604020202020204" pitchFamily="34" charset="0"/>
              </a:rPr>
              <a:t>склад, цены, поставщики, поступления, 3D</a:t>
            </a:r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2BBAF92B-CDC1-4E78-96F6-BDA8F2FDA7E1}"/>
              </a:ext>
            </a:extLst>
          </p:cNvPr>
          <p:cNvCxnSpPr/>
          <p:nvPr/>
        </p:nvCxnSpPr>
        <p:spPr>
          <a:xfrm>
            <a:off x="896112" y="4608576"/>
            <a:ext cx="6254496" cy="0"/>
          </a:xfrm>
          <a:prstGeom prst="line">
            <a:avLst/>
          </a:prstGeom>
          <a:ln w="10160">
            <a:solidFill>
              <a:srgbClr val="EAD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9EA8242-2409-4BB6-A706-10872FD8DF2F}"/>
              </a:ext>
            </a:extLst>
          </p:cNvPr>
          <p:cNvSpPr txBox="1"/>
          <p:nvPr/>
        </p:nvSpPr>
        <p:spPr>
          <a:xfrm>
            <a:off x="914400" y="4754880"/>
            <a:ext cx="1417320" cy="347788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300" b="1">
                <a:solidFill>
                  <a:srgbClr val="342622"/>
                </a:solidFill>
                <a:latin typeface="Arial" panose="020B0604020202020204" pitchFamily="34" charset="0"/>
              </a:rPr>
              <a:t>Курьер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C92B735-7239-4B3D-98C7-795FFD42DB30}"/>
              </a:ext>
            </a:extLst>
          </p:cNvPr>
          <p:cNvSpPr txBox="1"/>
          <p:nvPr/>
        </p:nvSpPr>
        <p:spPr>
          <a:xfrm>
            <a:off x="2450592" y="4754880"/>
            <a:ext cx="4480560" cy="347788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300">
                <a:solidFill>
                  <a:srgbClr val="806E68"/>
                </a:solidFill>
                <a:latin typeface="Arial" panose="020B0604020202020204" pitchFamily="34" charset="0"/>
              </a:rPr>
              <a:t>только назначенные доставки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F095DF69-1B88-4BEF-92F5-571BC7F76672}"/>
              </a:ext>
            </a:extLst>
          </p:cNvPr>
          <p:cNvSpPr/>
          <p:nvPr/>
        </p:nvSpPr>
        <p:spPr>
          <a:xfrm>
            <a:off x="7808976" y="2176272"/>
            <a:ext cx="3346704" cy="3218688"/>
          </a:xfrm>
          <a:prstGeom prst="roundRect">
            <a:avLst/>
          </a:prstGeom>
          <a:solidFill>
            <a:srgbClr val="F8E7E2"/>
          </a:solidFill>
          <a:ln w="10160">
            <a:solidFill>
              <a:srgbClr val="F4CB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B2F7CDD-8278-4755-AFD9-6B58AFA0678E}"/>
              </a:ext>
            </a:extLst>
          </p:cNvPr>
          <p:cNvSpPr txBox="1"/>
          <p:nvPr/>
        </p:nvSpPr>
        <p:spPr>
          <a:xfrm>
            <a:off x="8083296" y="2468880"/>
            <a:ext cx="2743200" cy="424732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>
                <a:solidFill>
                  <a:srgbClr val="B85D70"/>
                </a:solidFill>
                <a:latin typeface="Georgia" panose="02040502050405020303" pitchFamily="18" charset="0"/>
              </a:rPr>
              <a:t>Защитные механизмы</a:t>
            </a:r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DA1EA2A4-6C64-474A-A54E-D0545A990CB2}"/>
              </a:ext>
            </a:extLst>
          </p:cNvPr>
          <p:cNvSpPr/>
          <p:nvPr/>
        </p:nvSpPr>
        <p:spPr>
          <a:xfrm>
            <a:off x="8119872" y="3072384"/>
            <a:ext cx="91440" cy="91440"/>
          </a:xfrm>
          <a:prstGeom prst="ellipse">
            <a:avLst/>
          </a:prstGeom>
          <a:solidFill>
            <a:srgbClr val="C97D72"/>
          </a:solidFill>
          <a:ln w="10160">
            <a:solidFill>
              <a:srgbClr val="C97D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24256A4-55F1-4FC6-AD6E-3C097C0C3C08}"/>
              </a:ext>
            </a:extLst>
          </p:cNvPr>
          <p:cNvSpPr txBox="1"/>
          <p:nvPr/>
        </p:nvSpPr>
        <p:spPr>
          <a:xfrm>
            <a:off x="8321040" y="3017520"/>
            <a:ext cx="2523744" cy="363176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400">
                <a:solidFill>
                  <a:srgbClr val="342622"/>
                </a:solidFill>
                <a:latin typeface="Arial" panose="020B0604020202020204" pitchFamily="34" charset="0"/>
              </a:rPr>
              <a:t>личные пароли и </a:t>
            </a:r>
            <a:r>
              <a:rPr lang="en-US" sz="1400">
                <a:solidFill>
                  <a:srgbClr val="342622"/>
                </a:solidFill>
                <a:latin typeface="Arial" panose="020B0604020202020204" pitchFamily="34" charset="0"/>
              </a:rPr>
              <a:t>scrypt</a:t>
            </a:r>
            <a:endParaRPr lang="ru-RU" sz="1400">
              <a:solidFill>
                <a:srgbClr val="342622"/>
              </a:solidFill>
              <a:latin typeface="Arial" panose="020B0604020202020204" pitchFamily="34" charset="0"/>
            </a:endParaRPr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2B47375D-3763-436C-BAFD-4E57B95EC31B}"/>
              </a:ext>
            </a:extLst>
          </p:cNvPr>
          <p:cNvSpPr/>
          <p:nvPr/>
        </p:nvSpPr>
        <p:spPr>
          <a:xfrm>
            <a:off x="8119872" y="3456432"/>
            <a:ext cx="91440" cy="91440"/>
          </a:xfrm>
          <a:prstGeom prst="ellipse">
            <a:avLst/>
          </a:prstGeom>
          <a:solidFill>
            <a:srgbClr val="C97D72"/>
          </a:solidFill>
          <a:ln w="10160">
            <a:solidFill>
              <a:srgbClr val="C97D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1267BA9-E1FC-4779-9F45-91E9FEFE2447}"/>
              </a:ext>
            </a:extLst>
          </p:cNvPr>
          <p:cNvSpPr txBox="1"/>
          <p:nvPr/>
        </p:nvSpPr>
        <p:spPr>
          <a:xfrm>
            <a:off x="8321040" y="3401568"/>
            <a:ext cx="2523744" cy="363176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400">
                <a:solidFill>
                  <a:srgbClr val="342622"/>
                </a:solidFill>
                <a:latin typeface="Arial" panose="020B0604020202020204" pitchFamily="34" charset="0"/>
              </a:rPr>
              <a:t>серверные сессии с </a:t>
            </a:r>
            <a:r>
              <a:rPr lang="en-US" sz="1400">
                <a:solidFill>
                  <a:srgbClr val="342622"/>
                </a:solidFill>
                <a:latin typeface="Arial" panose="020B0604020202020204" pitchFamily="34" charset="0"/>
              </a:rPr>
              <a:t>TTL</a:t>
            </a:r>
            <a:endParaRPr lang="ru-RU" sz="1400">
              <a:solidFill>
                <a:srgbClr val="342622"/>
              </a:solidFill>
              <a:latin typeface="Arial" panose="020B0604020202020204" pitchFamily="34" charset="0"/>
            </a:endParaRP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116713BB-641A-483B-B2EE-D25D72794A9B}"/>
              </a:ext>
            </a:extLst>
          </p:cNvPr>
          <p:cNvSpPr/>
          <p:nvPr/>
        </p:nvSpPr>
        <p:spPr>
          <a:xfrm>
            <a:off x="8119872" y="3840480"/>
            <a:ext cx="91440" cy="91440"/>
          </a:xfrm>
          <a:prstGeom prst="ellipse">
            <a:avLst/>
          </a:prstGeom>
          <a:solidFill>
            <a:srgbClr val="C97D72"/>
          </a:solidFill>
          <a:ln w="10160">
            <a:solidFill>
              <a:srgbClr val="C97D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D2FC87-BCA9-4534-9012-C9D635D5D9B1}"/>
              </a:ext>
            </a:extLst>
          </p:cNvPr>
          <p:cNvSpPr txBox="1"/>
          <p:nvPr/>
        </p:nvSpPr>
        <p:spPr>
          <a:xfrm>
            <a:off x="8321040" y="3785616"/>
            <a:ext cx="2523744" cy="363176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400">
                <a:solidFill>
                  <a:srgbClr val="342622"/>
                </a:solidFill>
                <a:latin typeface="Arial" panose="020B0604020202020204" pitchFamily="34" charset="0"/>
              </a:rPr>
              <a:t>отзыв старых сессий</a:t>
            </a:r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26449CD4-B729-477D-A3D6-59A3CCD16CBB}"/>
              </a:ext>
            </a:extLst>
          </p:cNvPr>
          <p:cNvSpPr/>
          <p:nvPr/>
        </p:nvSpPr>
        <p:spPr>
          <a:xfrm>
            <a:off x="8119872" y="4224528"/>
            <a:ext cx="91440" cy="91440"/>
          </a:xfrm>
          <a:prstGeom prst="ellipse">
            <a:avLst/>
          </a:prstGeom>
          <a:solidFill>
            <a:srgbClr val="C97D72"/>
          </a:solidFill>
          <a:ln w="10160">
            <a:solidFill>
              <a:srgbClr val="C97D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EE7B4C0-AE38-4A6E-A32B-8E1555982D84}"/>
              </a:ext>
            </a:extLst>
          </p:cNvPr>
          <p:cNvSpPr txBox="1"/>
          <p:nvPr/>
        </p:nvSpPr>
        <p:spPr>
          <a:xfrm>
            <a:off x="8321040" y="4169664"/>
            <a:ext cx="2523744" cy="363176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400">
                <a:solidFill>
                  <a:srgbClr val="342622"/>
                </a:solidFill>
                <a:latin typeface="Arial" panose="020B0604020202020204" pitchFamily="34" charset="0"/>
              </a:rPr>
              <a:t>ограничение попыток входа</a:t>
            </a:r>
          </a:p>
        </p:txBody>
      </p:sp>
      <p:sp>
        <p:nvSpPr>
          <p:cNvPr id="34" name="Овал 33">
            <a:extLst>
              <a:ext uri="{FF2B5EF4-FFF2-40B4-BE49-F238E27FC236}">
                <a16:creationId xmlns:a16="http://schemas.microsoft.com/office/drawing/2014/main" id="{741C3D31-DA63-40D5-BB1C-D67E53D3A7BC}"/>
              </a:ext>
            </a:extLst>
          </p:cNvPr>
          <p:cNvSpPr/>
          <p:nvPr/>
        </p:nvSpPr>
        <p:spPr>
          <a:xfrm>
            <a:off x="8119872" y="4608576"/>
            <a:ext cx="91440" cy="91440"/>
          </a:xfrm>
          <a:prstGeom prst="ellipse">
            <a:avLst/>
          </a:prstGeom>
          <a:solidFill>
            <a:srgbClr val="C97D72"/>
          </a:solidFill>
          <a:ln w="10160">
            <a:solidFill>
              <a:srgbClr val="C97D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E820ADD-727E-410E-93C6-2EDDC9A214B7}"/>
              </a:ext>
            </a:extLst>
          </p:cNvPr>
          <p:cNvSpPr txBox="1"/>
          <p:nvPr/>
        </p:nvSpPr>
        <p:spPr>
          <a:xfrm>
            <a:off x="8321040" y="4553712"/>
            <a:ext cx="2523744" cy="578620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400">
                <a:solidFill>
                  <a:srgbClr val="342622"/>
                </a:solidFill>
                <a:latin typeface="Arial" panose="020B0604020202020204" pitchFamily="34" charset="0"/>
              </a:rPr>
              <a:t>защита последнего </a:t>
            </a:r>
            <a:r>
              <a:rPr lang="en-US" sz="1400">
                <a:solidFill>
                  <a:srgbClr val="342622"/>
                </a:solidFill>
                <a:latin typeface="Arial" panose="020B0604020202020204" pitchFamily="34" charset="0"/>
              </a:rPr>
              <a:t>super_admin</a:t>
            </a:r>
            <a:endParaRPr lang="ru-RU" sz="1400">
              <a:solidFill>
                <a:srgbClr val="34262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916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60539A-773B-403D-AC00-12CEFCEE8029}"/>
              </a:ext>
            </a:extLst>
          </p:cNvPr>
          <p:cNvSpPr txBox="1"/>
          <p:nvPr/>
        </p:nvSpPr>
        <p:spPr>
          <a:xfrm>
            <a:off x="594360" y="438912"/>
            <a:ext cx="3657600" cy="301621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000" b="1">
                <a:solidFill>
                  <a:srgbClr val="B85D70"/>
                </a:solidFill>
                <a:latin typeface="Arial" panose="020B0604020202020204" pitchFamily="34" charset="0"/>
              </a:rPr>
              <a:t>КОНСТРУКТОР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AF6A64-7B3D-40B1-A1CF-768EBB23B3D8}"/>
              </a:ext>
            </a:extLst>
          </p:cNvPr>
          <p:cNvSpPr txBox="1"/>
          <p:nvPr/>
        </p:nvSpPr>
        <p:spPr>
          <a:xfrm>
            <a:off x="594360" y="713232"/>
            <a:ext cx="10241280" cy="624786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3100">
                <a:solidFill>
                  <a:srgbClr val="342622"/>
                </a:solidFill>
                <a:latin typeface="Georgia" panose="02040502050405020303" pitchFamily="18" charset="0"/>
              </a:rPr>
              <a:t>Связь конструктора со складом и заказами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980FEE31-4D0A-4618-9E65-87EB1355DBD7}"/>
              </a:ext>
            </a:extLst>
          </p:cNvPr>
          <p:cNvCxnSpPr/>
          <p:nvPr/>
        </p:nvCxnSpPr>
        <p:spPr>
          <a:xfrm>
            <a:off x="594360" y="1389888"/>
            <a:ext cx="10972800" cy="0"/>
          </a:xfrm>
          <a:prstGeom prst="line">
            <a:avLst/>
          </a:prstGeom>
          <a:ln w="15240">
            <a:solidFill>
              <a:srgbClr val="F4CB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39A4CD7-4BFD-4EE4-B9BE-87E0C83D73E1}"/>
              </a:ext>
            </a:extLst>
          </p:cNvPr>
          <p:cNvSpPr txBox="1"/>
          <p:nvPr/>
        </p:nvSpPr>
        <p:spPr>
          <a:xfrm>
            <a:off x="10835640" y="6510528"/>
            <a:ext cx="822960" cy="286232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r"/>
            <a:r>
              <a:rPr lang="en-US" sz="900" b="1">
                <a:solidFill>
                  <a:srgbClr val="B85D70"/>
                </a:solidFill>
                <a:latin typeface="Arial" panose="020B0604020202020204" pitchFamily="34" charset="0"/>
              </a:rPr>
              <a:t>LOTUS</a:t>
            </a:r>
            <a:endParaRPr lang="ru-RU" sz="900" b="1">
              <a:solidFill>
                <a:srgbClr val="B85D70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0950F7-99B5-4291-B4F5-4AB9C8545906}"/>
              </a:ext>
            </a:extLst>
          </p:cNvPr>
          <p:cNvSpPr txBox="1"/>
          <p:nvPr/>
        </p:nvSpPr>
        <p:spPr>
          <a:xfrm>
            <a:off x="438912" y="6510528"/>
            <a:ext cx="320040" cy="286232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900" b="1">
                <a:solidFill>
                  <a:srgbClr val="806E68"/>
                </a:solidFill>
                <a:latin typeface="Arial" panose="020B0604020202020204" pitchFamily="34" charset="0"/>
              </a:rPr>
              <a:t>10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79713B3-95AE-43D7-88AE-C5C3378821D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" y="1700784"/>
            <a:ext cx="4956048" cy="3246120"/>
          </a:xfrm>
          <a:prstGeom prst="rect">
            <a:avLst/>
          </a:prstGeom>
        </p:spPr>
      </p:pic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439D7459-9A98-44FA-B49B-92D19842FD49}"/>
              </a:ext>
            </a:extLst>
          </p:cNvPr>
          <p:cNvSpPr/>
          <p:nvPr/>
        </p:nvSpPr>
        <p:spPr>
          <a:xfrm>
            <a:off x="658368" y="5102352"/>
            <a:ext cx="4956048" cy="457200"/>
          </a:xfrm>
          <a:prstGeom prst="roundRect">
            <a:avLst/>
          </a:prstGeom>
          <a:solidFill>
            <a:srgbClr val="F8E7E2"/>
          </a:solidFill>
          <a:ln w="10160">
            <a:solidFill>
              <a:srgbClr val="F4CB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4AAFA9-59A4-4475-9C7C-04D5FDF3D180}"/>
              </a:ext>
            </a:extLst>
          </p:cNvPr>
          <p:cNvSpPr txBox="1"/>
          <p:nvPr/>
        </p:nvSpPr>
        <p:spPr>
          <a:xfrm>
            <a:off x="822960" y="5248656"/>
            <a:ext cx="4608576" cy="317010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100">
                <a:solidFill>
                  <a:srgbClr val="806E68"/>
                </a:solidFill>
                <a:latin typeface="Arial" panose="020B0604020202020204" pitchFamily="34" charset="0"/>
              </a:rPr>
              <a:t>Реальный экран конструктора: 3D-сцена загружается из проекта.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367FAE91-44F2-4562-89CF-ECAE5B028BF5}"/>
              </a:ext>
            </a:extLst>
          </p:cNvPr>
          <p:cNvSpPr/>
          <p:nvPr/>
        </p:nvSpPr>
        <p:spPr>
          <a:xfrm>
            <a:off x="6144768" y="2249424"/>
            <a:ext cx="109728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D8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DD9540-2157-4C10-ACBB-82BA9F08EFC1}"/>
              </a:ext>
            </a:extLst>
          </p:cNvPr>
          <p:cNvSpPr txBox="1"/>
          <p:nvPr/>
        </p:nvSpPr>
        <p:spPr>
          <a:xfrm>
            <a:off x="6190488" y="2542032"/>
            <a:ext cx="1005840" cy="547842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300" b="1">
                <a:solidFill>
                  <a:srgbClr val="342622"/>
                </a:solidFill>
                <a:latin typeface="Arial" panose="020B0604020202020204" pitchFamily="34" charset="0"/>
              </a:rPr>
              <a:t>Цветы
склада</a:t>
            </a:r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11E68411-F137-4B5E-8C24-8E921357BE43}"/>
              </a:ext>
            </a:extLst>
          </p:cNvPr>
          <p:cNvCxnSpPr/>
          <p:nvPr/>
        </p:nvCxnSpPr>
        <p:spPr>
          <a:xfrm>
            <a:off x="7242048" y="2743200"/>
            <a:ext cx="128016" cy="0"/>
          </a:xfrm>
          <a:prstGeom prst="line">
            <a:avLst/>
          </a:prstGeom>
          <a:ln w="20320">
            <a:solidFill>
              <a:srgbClr val="C97D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0BD49A9B-4302-40A7-BA4E-9BA003094E70}"/>
              </a:ext>
            </a:extLst>
          </p:cNvPr>
          <p:cNvSpPr/>
          <p:nvPr/>
        </p:nvSpPr>
        <p:spPr>
          <a:xfrm>
            <a:off x="7443216" y="2249424"/>
            <a:ext cx="1097281" cy="987552"/>
          </a:xfrm>
          <a:prstGeom prst="roundRect">
            <a:avLst/>
          </a:prstGeom>
          <a:solidFill>
            <a:srgbClr val="F4CBC4"/>
          </a:solidFill>
          <a:ln w="10160">
            <a:solidFill>
              <a:srgbClr val="EAD8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E0B2D3-3083-47C5-94C5-39228DAA0D14}"/>
              </a:ext>
            </a:extLst>
          </p:cNvPr>
          <p:cNvSpPr txBox="1"/>
          <p:nvPr/>
        </p:nvSpPr>
        <p:spPr>
          <a:xfrm>
            <a:off x="7488936" y="2542032"/>
            <a:ext cx="1005840" cy="747897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en-US" sz="1300" b="1">
                <a:solidFill>
                  <a:srgbClr val="342622"/>
                </a:solidFill>
                <a:latin typeface="Arial" panose="020B0604020202020204" pitchFamily="34" charset="0"/>
              </a:rPr>
              <a:t>3D-
</a:t>
            </a:r>
            <a:r>
              <a:rPr lang="ru-RU" sz="1300" b="1">
                <a:solidFill>
                  <a:srgbClr val="342622"/>
                </a:solidFill>
                <a:latin typeface="Arial" panose="020B0604020202020204" pitchFamily="34" charset="0"/>
              </a:rPr>
              <a:t>конструктор</a:t>
            </a:r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51FB63D5-511F-49B4-A317-D23DE77CAB95}"/>
              </a:ext>
            </a:extLst>
          </p:cNvPr>
          <p:cNvCxnSpPr/>
          <p:nvPr/>
        </p:nvCxnSpPr>
        <p:spPr>
          <a:xfrm>
            <a:off x="8540496" y="2743200"/>
            <a:ext cx="128016" cy="0"/>
          </a:xfrm>
          <a:prstGeom prst="line">
            <a:avLst/>
          </a:prstGeom>
          <a:ln w="20320">
            <a:solidFill>
              <a:srgbClr val="C97D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1B68F760-6B7D-48C4-B2C9-C9F6AE8F6A55}"/>
              </a:ext>
            </a:extLst>
          </p:cNvPr>
          <p:cNvSpPr/>
          <p:nvPr/>
        </p:nvSpPr>
        <p:spPr>
          <a:xfrm>
            <a:off x="8741664" y="2249424"/>
            <a:ext cx="109728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D8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3E2B05-E16C-4E9F-B421-A8FE7F009DB2}"/>
              </a:ext>
            </a:extLst>
          </p:cNvPr>
          <p:cNvSpPr txBox="1"/>
          <p:nvPr/>
        </p:nvSpPr>
        <p:spPr>
          <a:xfrm>
            <a:off x="8787384" y="2542032"/>
            <a:ext cx="1005840" cy="347788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300" b="1">
                <a:solidFill>
                  <a:srgbClr val="342622"/>
                </a:solidFill>
                <a:latin typeface="Arial" panose="020B0604020202020204" pitchFamily="34" charset="0"/>
              </a:rPr>
              <a:t>Корзина</a:t>
            </a:r>
          </a:p>
        </p:txBody>
      </p: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86250A42-61C0-43D9-8902-AB26E3389D25}"/>
              </a:ext>
            </a:extLst>
          </p:cNvPr>
          <p:cNvCxnSpPr/>
          <p:nvPr/>
        </p:nvCxnSpPr>
        <p:spPr>
          <a:xfrm>
            <a:off x="9838944" y="2743200"/>
            <a:ext cx="128016" cy="0"/>
          </a:xfrm>
          <a:prstGeom prst="line">
            <a:avLst/>
          </a:prstGeom>
          <a:ln w="20320">
            <a:solidFill>
              <a:srgbClr val="C97D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D8D302F4-35E3-49E9-9C43-A4F221992C9A}"/>
              </a:ext>
            </a:extLst>
          </p:cNvPr>
          <p:cNvSpPr/>
          <p:nvPr/>
        </p:nvSpPr>
        <p:spPr>
          <a:xfrm>
            <a:off x="10040112" y="2249424"/>
            <a:ext cx="1097280" cy="987552"/>
          </a:xfrm>
          <a:prstGeom prst="roundRect">
            <a:avLst/>
          </a:prstGeom>
          <a:solidFill>
            <a:srgbClr val="F8E7E2"/>
          </a:solidFill>
          <a:ln w="10160">
            <a:solidFill>
              <a:srgbClr val="EAD8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F587A0-DE20-43AD-95D6-CE079ACDC371}"/>
              </a:ext>
            </a:extLst>
          </p:cNvPr>
          <p:cNvSpPr txBox="1"/>
          <p:nvPr/>
        </p:nvSpPr>
        <p:spPr>
          <a:xfrm>
            <a:off x="10085832" y="2542032"/>
            <a:ext cx="1005840" cy="747897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300" b="1">
                <a:solidFill>
                  <a:srgbClr val="342622"/>
                </a:solidFill>
                <a:latin typeface="Arial" panose="020B0604020202020204" pitchFamily="34" charset="0"/>
              </a:rPr>
              <a:t>Серверная
проверка</a:t>
            </a: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DFB12EDC-4A75-4DE1-A953-94FB3CF2C081}"/>
              </a:ext>
            </a:extLst>
          </p:cNvPr>
          <p:cNvCxnSpPr/>
          <p:nvPr/>
        </p:nvCxnSpPr>
        <p:spPr>
          <a:xfrm>
            <a:off x="11137392" y="2743200"/>
            <a:ext cx="128016" cy="0"/>
          </a:xfrm>
          <a:prstGeom prst="line">
            <a:avLst/>
          </a:prstGeom>
          <a:ln w="20320">
            <a:solidFill>
              <a:srgbClr val="C97D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45358682-6653-45A1-8428-721126D8BA95}"/>
              </a:ext>
            </a:extLst>
          </p:cNvPr>
          <p:cNvSpPr/>
          <p:nvPr/>
        </p:nvSpPr>
        <p:spPr>
          <a:xfrm>
            <a:off x="11283696" y="2249424"/>
            <a:ext cx="1097280" cy="987552"/>
          </a:xfrm>
          <a:prstGeom prst="roundRect">
            <a:avLst/>
          </a:prstGeom>
          <a:solidFill>
            <a:srgbClr val="C97D72"/>
          </a:solidFill>
          <a:ln w="10160">
            <a:solidFill>
              <a:srgbClr val="C97D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3722FF-5B04-4336-90FB-7F4D9A91C6E1}"/>
              </a:ext>
            </a:extLst>
          </p:cNvPr>
          <p:cNvSpPr txBox="1"/>
          <p:nvPr/>
        </p:nvSpPr>
        <p:spPr>
          <a:xfrm>
            <a:off x="11329416" y="2542032"/>
            <a:ext cx="1005840" cy="547842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300" b="1">
                <a:solidFill>
                  <a:srgbClr val="FFFFFF"/>
                </a:solidFill>
                <a:latin typeface="Arial" panose="020B0604020202020204" pitchFamily="34" charset="0"/>
              </a:rPr>
              <a:t>Снимок
заказа</a:t>
            </a: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D79F109C-5802-41B8-9513-9FE69CCF3BD6}"/>
              </a:ext>
            </a:extLst>
          </p:cNvPr>
          <p:cNvSpPr/>
          <p:nvPr/>
        </p:nvSpPr>
        <p:spPr>
          <a:xfrm>
            <a:off x="6163056" y="3858768"/>
            <a:ext cx="621792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D8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B5EB54-E9A1-42A1-8D05-2B5E63797EF2}"/>
              </a:ext>
            </a:extLst>
          </p:cNvPr>
          <p:cNvSpPr txBox="1"/>
          <p:nvPr/>
        </p:nvSpPr>
        <p:spPr>
          <a:xfrm>
            <a:off x="6419088" y="4096512"/>
            <a:ext cx="2487168" cy="670953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700">
                <a:solidFill>
                  <a:srgbClr val="342622"/>
                </a:solidFill>
                <a:latin typeface="Georgia" panose="02040502050405020303" pitchFamily="18" charset="0"/>
              </a:rPr>
              <a:t>Сервер использует реальные данные</a:t>
            </a:r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206565BD-8F67-485D-B9EB-D7B58A671256}"/>
              </a:ext>
            </a:extLst>
          </p:cNvPr>
          <p:cNvSpPr/>
          <p:nvPr/>
        </p:nvSpPr>
        <p:spPr>
          <a:xfrm>
            <a:off x="8979408" y="4059936"/>
            <a:ext cx="91440" cy="91440"/>
          </a:xfrm>
          <a:prstGeom prst="ellipse">
            <a:avLst/>
          </a:prstGeom>
          <a:solidFill>
            <a:srgbClr val="C97D72"/>
          </a:solidFill>
          <a:ln w="10160">
            <a:solidFill>
              <a:srgbClr val="C97D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50C4241-22AE-48D9-B477-F6A8B80C2906}"/>
              </a:ext>
            </a:extLst>
          </p:cNvPr>
          <p:cNvSpPr txBox="1"/>
          <p:nvPr/>
        </p:nvSpPr>
        <p:spPr>
          <a:xfrm>
            <a:off x="9180576" y="4005072"/>
            <a:ext cx="2770632" cy="340093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250">
                <a:solidFill>
                  <a:srgbClr val="806E68"/>
                </a:solidFill>
                <a:latin typeface="Arial" panose="020B0604020202020204" pitchFamily="34" charset="0"/>
              </a:rPr>
              <a:t>цветы и доступное количество</a:t>
            </a:r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387296A9-9CAC-4BF3-998B-4E0C2F3D0702}"/>
              </a:ext>
            </a:extLst>
          </p:cNvPr>
          <p:cNvSpPr/>
          <p:nvPr/>
        </p:nvSpPr>
        <p:spPr>
          <a:xfrm>
            <a:off x="8979408" y="4389120"/>
            <a:ext cx="91440" cy="91440"/>
          </a:xfrm>
          <a:prstGeom prst="ellipse">
            <a:avLst/>
          </a:prstGeom>
          <a:solidFill>
            <a:srgbClr val="C97D72"/>
          </a:solidFill>
          <a:ln w="10160">
            <a:solidFill>
              <a:srgbClr val="C97D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2AD4DC-DC22-454F-99A3-75AF8F7A1613}"/>
              </a:ext>
            </a:extLst>
          </p:cNvPr>
          <p:cNvSpPr txBox="1"/>
          <p:nvPr/>
        </p:nvSpPr>
        <p:spPr>
          <a:xfrm>
            <a:off x="9180576" y="4334256"/>
            <a:ext cx="2770632" cy="340093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250">
                <a:solidFill>
                  <a:srgbClr val="806E68"/>
                </a:solidFill>
                <a:latin typeface="Arial" panose="020B0604020202020204" pitchFamily="34" charset="0"/>
              </a:rPr>
              <a:t>цены и актуальные упаковки</a:t>
            </a:r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8835F70B-4CE8-4DAD-A9FE-E1563AFBF111}"/>
              </a:ext>
            </a:extLst>
          </p:cNvPr>
          <p:cNvSpPr/>
          <p:nvPr/>
        </p:nvSpPr>
        <p:spPr>
          <a:xfrm>
            <a:off x="8979408" y="4718304"/>
            <a:ext cx="91440" cy="91440"/>
          </a:xfrm>
          <a:prstGeom prst="ellipse">
            <a:avLst/>
          </a:prstGeom>
          <a:solidFill>
            <a:srgbClr val="C97D72"/>
          </a:solidFill>
          <a:ln w="10160">
            <a:solidFill>
              <a:srgbClr val="C97D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128068D-1A9C-4E8D-B6C5-21F2AF36F986}"/>
              </a:ext>
            </a:extLst>
          </p:cNvPr>
          <p:cNvSpPr txBox="1"/>
          <p:nvPr/>
        </p:nvSpPr>
        <p:spPr>
          <a:xfrm>
            <a:off x="9180576" y="4663440"/>
            <a:ext cx="2770632" cy="532453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250">
                <a:solidFill>
                  <a:srgbClr val="806E68"/>
                </a:solidFill>
                <a:latin typeface="Arial" panose="020B0604020202020204" pitchFamily="34" charset="0"/>
              </a:rPr>
              <a:t>состав и цена сохраняются в снимке</a:t>
            </a:r>
          </a:p>
        </p:txBody>
      </p:sp>
    </p:spTree>
    <p:extLst>
      <p:ext uri="{BB962C8B-B14F-4D97-AF65-F5344CB8AC3E}">
        <p14:creationId xmlns:p14="http://schemas.microsoft.com/office/powerpoint/2010/main" val="3356413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93C1B5-F225-4A6F-9F98-EB740CF1EC23}"/>
              </a:ext>
            </a:extLst>
          </p:cNvPr>
          <p:cNvSpPr txBox="1"/>
          <p:nvPr/>
        </p:nvSpPr>
        <p:spPr>
          <a:xfrm>
            <a:off x="594360" y="438912"/>
            <a:ext cx="3657600" cy="301621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000" b="1">
                <a:solidFill>
                  <a:srgbClr val="B85D70"/>
                </a:solidFill>
                <a:latin typeface="Arial" panose="020B0604020202020204" pitchFamily="34" charset="0"/>
              </a:rPr>
              <a:t>ТЕХНИЧЕСКАЯ ОСНОВА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95C504-B368-434E-8AB2-510723B26E9E}"/>
              </a:ext>
            </a:extLst>
          </p:cNvPr>
          <p:cNvSpPr txBox="1"/>
          <p:nvPr/>
        </p:nvSpPr>
        <p:spPr>
          <a:xfrm>
            <a:off x="594360" y="713232"/>
            <a:ext cx="10241280" cy="624786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3100">
                <a:solidFill>
                  <a:srgbClr val="342622"/>
                </a:solidFill>
                <a:latin typeface="Georgia" panose="02040502050405020303" pitchFamily="18" charset="0"/>
              </a:rPr>
              <a:t>Архитектура системы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67052B9A-6DAD-46A3-A650-E68C1830C7A8}"/>
              </a:ext>
            </a:extLst>
          </p:cNvPr>
          <p:cNvCxnSpPr/>
          <p:nvPr/>
        </p:nvCxnSpPr>
        <p:spPr>
          <a:xfrm>
            <a:off x="594360" y="1389888"/>
            <a:ext cx="10972800" cy="0"/>
          </a:xfrm>
          <a:prstGeom prst="line">
            <a:avLst/>
          </a:prstGeom>
          <a:ln w="15240">
            <a:solidFill>
              <a:srgbClr val="F4CB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2CF4C3E-94E9-442F-B675-D42C6A47B420}"/>
              </a:ext>
            </a:extLst>
          </p:cNvPr>
          <p:cNvSpPr txBox="1"/>
          <p:nvPr/>
        </p:nvSpPr>
        <p:spPr>
          <a:xfrm>
            <a:off x="10835640" y="6510528"/>
            <a:ext cx="822960" cy="286232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r"/>
            <a:r>
              <a:rPr lang="en-US" sz="900" b="1">
                <a:solidFill>
                  <a:srgbClr val="B85D70"/>
                </a:solidFill>
                <a:latin typeface="Arial" panose="020B0604020202020204" pitchFamily="34" charset="0"/>
              </a:rPr>
              <a:t>LOTUS</a:t>
            </a:r>
            <a:endParaRPr lang="ru-RU" sz="900" b="1">
              <a:solidFill>
                <a:srgbClr val="B85D70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4A4F42-86F6-4524-819A-981D89374776}"/>
              </a:ext>
            </a:extLst>
          </p:cNvPr>
          <p:cNvSpPr txBox="1"/>
          <p:nvPr/>
        </p:nvSpPr>
        <p:spPr>
          <a:xfrm>
            <a:off x="438912" y="6510528"/>
            <a:ext cx="320040" cy="286232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900" b="1">
                <a:solidFill>
                  <a:srgbClr val="806E68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CB6A620E-8B71-466A-B730-46D556B3FA91}"/>
              </a:ext>
            </a:extLst>
          </p:cNvPr>
          <p:cNvSpPr/>
          <p:nvPr/>
        </p:nvSpPr>
        <p:spPr>
          <a:xfrm>
            <a:off x="749808" y="1737360"/>
            <a:ext cx="10378440" cy="530352"/>
          </a:xfrm>
          <a:prstGeom prst="roundRect">
            <a:avLst/>
          </a:prstGeom>
          <a:solidFill>
            <a:srgbClr val="F4CBC4"/>
          </a:solidFill>
          <a:ln w="10160">
            <a:solidFill>
              <a:srgbClr val="F4CB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9D145A-2CEF-49CF-BA74-A29F826A9DF3}"/>
              </a:ext>
            </a:extLst>
          </p:cNvPr>
          <p:cNvSpPr txBox="1"/>
          <p:nvPr/>
        </p:nvSpPr>
        <p:spPr>
          <a:xfrm>
            <a:off x="1024128" y="1911096"/>
            <a:ext cx="9784080" cy="393954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600" b="1">
                <a:solidFill>
                  <a:srgbClr val="342622"/>
                </a:solidFill>
                <a:latin typeface="Arial" panose="020B0604020202020204" pitchFamily="34" charset="0"/>
              </a:rPr>
              <a:t>Публичный интерфейс и админка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420AF133-31AD-417A-983A-AFCE232AAC30}"/>
              </a:ext>
            </a:extLst>
          </p:cNvPr>
          <p:cNvCxnSpPr/>
          <p:nvPr/>
        </p:nvCxnSpPr>
        <p:spPr>
          <a:xfrm>
            <a:off x="5943600" y="2267712"/>
            <a:ext cx="0" cy="219456"/>
          </a:xfrm>
          <a:prstGeom prst="line">
            <a:avLst/>
          </a:prstGeom>
          <a:ln w="22860">
            <a:solidFill>
              <a:srgbClr val="C97D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F286F725-F378-42E3-BBEA-E34A3391326D}"/>
              </a:ext>
            </a:extLst>
          </p:cNvPr>
          <p:cNvSpPr/>
          <p:nvPr/>
        </p:nvSpPr>
        <p:spPr>
          <a:xfrm>
            <a:off x="1353312" y="2487168"/>
            <a:ext cx="9162288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D8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814B17-FFFD-4404-9C74-B8DE17B57845}"/>
              </a:ext>
            </a:extLst>
          </p:cNvPr>
          <p:cNvSpPr txBox="1"/>
          <p:nvPr/>
        </p:nvSpPr>
        <p:spPr>
          <a:xfrm>
            <a:off x="1609344" y="2660904"/>
            <a:ext cx="8650224" cy="393954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en-US" sz="1600" b="1">
                <a:solidFill>
                  <a:srgbClr val="342622"/>
                </a:solidFill>
                <a:latin typeface="Arial" panose="020B0604020202020204" pitchFamily="34" charset="0"/>
              </a:rPr>
              <a:t>Next.js App Router</a:t>
            </a:r>
            <a:endParaRPr lang="ru-RU" sz="1600" b="1">
              <a:solidFill>
                <a:srgbClr val="342622"/>
              </a:solidFill>
              <a:latin typeface="Arial" panose="020B0604020202020204" pitchFamily="34" charset="0"/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4CAF243C-3016-47F7-908B-33CD4D72406C}"/>
              </a:ext>
            </a:extLst>
          </p:cNvPr>
          <p:cNvCxnSpPr/>
          <p:nvPr/>
        </p:nvCxnSpPr>
        <p:spPr>
          <a:xfrm>
            <a:off x="5943600" y="3017520"/>
            <a:ext cx="0" cy="219456"/>
          </a:xfrm>
          <a:prstGeom prst="line">
            <a:avLst/>
          </a:prstGeom>
          <a:ln w="22860">
            <a:solidFill>
              <a:srgbClr val="C97D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5C71173D-E98B-4D2F-A334-9D9664CADEF7}"/>
              </a:ext>
            </a:extLst>
          </p:cNvPr>
          <p:cNvSpPr/>
          <p:nvPr/>
        </p:nvSpPr>
        <p:spPr>
          <a:xfrm>
            <a:off x="1956816" y="3236976"/>
            <a:ext cx="7955281" cy="530352"/>
          </a:xfrm>
          <a:prstGeom prst="roundRect">
            <a:avLst/>
          </a:prstGeom>
          <a:solidFill>
            <a:srgbClr val="F8E7E2"/>
          </a:solidFill>
          <a:ln w="10160">
            <a:solidFill>
              <a:srgbClr val="F4CB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934659-2FB7-4C19-832E-478E8F6061B6}"/>
              </a:ext>
            </a:extLst>
          </p:cNvPr>
          <p:cNvSpPr txBox="1"/>
          <p:nvPr/>
        </p:nvSpPr>
        <p:spPr>
          <a:xfrm>
            <a:off x="2176272" y="3410712"/>
            <a:ext cx="7516368" cy="378565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en-US" sz="1500" b="1">
                <a:solidFill>
                  <a:srgbClr val="B85D70"/>
                </a:solidFill>
                <a:latin typeface="Arial" panose="020B0604020202020204" pitchFamily="34" charset="0"/>
              </a:rPr>
              <a:t>Server Actions </a:t>
            </a:r>
            <a:r>
              <a:rPr lang="ru-RU" sz="1500" b="1">
                <a:solidFill>
                  <a:srgbClr val="B85D70"/>
                </a:solidFill>
                <a:latin typeface="Arial" panose="020B0604020202020204" pitchFamily="34" charset="0"/>
              </a:rPr>
              <a:t>и </a:t>
            </a:r>
            <a:r>
              <a:rPr lang="en-US" sz="1500" b="1">
                <a:solidFill>
                  <a:srgbClr val="B85D70"/>
                </a:solidFill>
                <a:latin typeface="Arial" panose="020B0604020202020204" pitchFamily="34" charset="0"/>
              </a:rPr>
              <a:t>API  ·  </a:t>
            </a:r>
            <a:r>
              <a:rPr lang="ru-RU" sz="1500" b="1">
                <a:solidFill>
                  <a:srgbClr val="B85D70"/>
                </a:solidFill>
                <a:latin typeface="Arial" panose="020B0604020202020204" pitchFamily="34" charset="0"/>
              </a:rPr>
              <a:t>централизованные </a:t>
            </a:r>
            <a:r>
              <a:rPr lang="en-US" sz="1500" b="1">
                <a:solidFill>
                  <a:srgbClr val="B85D70"/>
                </a:solidFill>
                <a:latin typeface="Arial" panose="020B0604020202020204" pitchFamily="34" charset="0"/>
              </a:rPr>
              <a:t>permissions</a:t>
            </a:r>
            <a:endParaRPr lang="ru-RU" sz="1500" b="1">
              <a:solidFill>
                <a:srgbClr val="B85D70"/>
              </a:solidFill>
              <a:latin typeface="Arial" panose="020B0604020202020204" pitchFamily="34" charset="0"/>
            </a:endParaRP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C6AAAFD5-E916-42AD-B005-5F354DC1031A}"/>
              </a:ext>
            </a:extLst>
          </p:cNvPr>
          <p:cNvCxnSpPr/>
          <p:nvPr/>
        </p:nvCxnSpPr>
        <p:spPr>
          <a:xfrm>
            <a:off x="5943600" y="3767328"/>
            <a:ext cx="0" cy="219456"/>
          </a:xfrm>
          <a:prstGeom prst="line">
            <a:avLst/>
          </a:prstGeom>
          <a:ln w="22860">
            <a:solidFill>
              <a:srgbClr val="C97D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38E7E39A-2272-46ED-A5DC-12D29B169056}"/>
              </a:ext>
            </a:extLst>
          </p:cNvPr>
          <p:cNvSpPr/>
          <p:nvPr/>
        </p:nvSpPr>
        <p:spPr>
          <a:xfrm>
            <a:off x="2560320" y="3986784"/>
            <a:ext cx="6748272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D8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E9D3EE-62A0-468A-8683-71ACF0EC7631}"/>
              </a:ext>
            </a:extLst>
          </p:cNvPr>
          <p:cNvSpPr txBox="1"/>
          <p:nvPr/>
        </p:nvSpPr>
        <p:spPr>
          <a:xfrm>
            <a:off x="2779776" y="4160520"/>
            <a:ext cx="6309360" cy="393954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600" b="1">
                <a:solidFill>
                  <a:srgbClr val="342622"/>
                </a:solidFill>
                <a:latin typeface="Arial" panose="020B0604020202020204" pitchFamily="34" charset="0"/>
              </a:rPr>
              <a:t>Транзакции </a:t>
            </a:r>
            <a:r>
              <a:rPr lang="en-US" sz="1600" b="1">
                <a:solidFill>
                  <a:srgbClr val="342622"/>
                </a:solidFill>
                <a:latin typeface="Arial" panose="020B0604020202020204" pitchFamily="34" charset="0"/>
              </a:rPr>
              <a:t>PostgreSQL</a:t>
            </a:r>
            <a:endParaRPr lang="ru-RU" sz="1600" b="1">
              <a:solidFill>
                <a:srgbClr val="342622"/>
              </a:solidFill>
              <a:latin typeface="Arial" panose="020B0604020202020204" pitchFamily="34" charset="0"/>
            </a:endParaRPr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9D6B0880-A13D-4071-AF28-BBC92DA3918B}"/>
              </a:ext>
            </a:extLst>
          </p:cNvPr>
          <p:cNvCxnSpPr/>
          <p:nvPr/>
        </p:nvCxnSpPr>
        <p:spPr>
          <a:xfrm>
            <a:off x="5943600" y="4517136"/>
            <a:ext cx="0" cy="219456"/>
          </a:xfrm>
          <a:prstGeom prst="line">
            <a:avLst/>
          </a:prstGeom>
          <a:ln w="22860">
            <a:solidFill>
              <a:srgbClr val="C97D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6E3910BC-5EC1-4823-AB06-D3FCAF279EA5}"/>
              </a:ext>
            </a:extLst>
          </p:cNvPr>
          <p:cNvSpPr/>
          <p:nvPr/>
        </p:nvSpPr>
        <p:spPr>
          <a:xfrm>
            <a:off x="749808" y="4736592"/>
            <a:ext cx="3858768" cy="603504"/>
          </a:xfrm>
          <a:prstGeom prst="roundRect">
            <a:avLst/>
          </a:prstGeom>
          <a:solidFill>
            <a:srgbClr val="342622"/>
          </a:solidFill>
          <a:ln w="10160">
            <a:solidFill>
              <a:srgbClr val="3426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E54CBF-AF22-4E4E-ACBC-5E44D1DA0042}"/>
              </a:ext>
            </a:extLst>
          </p:cNvPr>
          <p:cNvSpPr txBox="1"/>
          <p:nvPr/>
        </p:nvSpPr>
        <p:spPr>
          <a:xfrm>
            <a:off x="941832" y="4882896"/>
            <a:ext cx="3474720" cy="578620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400" b="1">
                <a:solidFill>
                  <a:srgbClr val="FFFFFF"/>
                </a:solidFill>
                <a:latin typeface="Arial" panose="020B0604020202020204" pitchFamily="34" charset="0"/>
              </a:rPr>
              <a:t>База данных
</a:t>
            </a:r>
            <a:r>
              <a:rPr lang="en-US" sz="1400" b="1">
                <a:solidFill>
                  <a:srgbClr val="FFFFFF"/>
                </a:solidFill>
                <a:latin typeface="Arial" panose="020B0604020202020204" pitchFamily="34" charset="0"/>
              </a:rPr>
              <a:t>admin_audit_log</a:t>
            </a:r>
            <a:endParaRPr lang="ru-RU" sz="14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654DA22A-16D0-40E1-B888-3AAC7F51EF2F}"/>
              </a:ext>
            </a:extLst>
          </p:cNvPr>
          <p:cNvSpPr/>
          <p:nvPr/>
        </p:nvSpPr>
        <p:spPr>
          <a:xfrm>
            <a:off x="4937760" y="4736592"/>
            <a:ext cx="2834640" cy="603504"/>
          </a:xfrm>
          <a:prstGeom prst="roundRect">
            <a:avLst/>
          </a:prstGeom>
          <a:solidFill>
            <a:srgbClr val="F4CBC4"/>
          </a:solidFill>
          <a:ln w="10160">
            <a:solidFill>
              <a:srgbClr val="F4CB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8B2DAE-61CD-416E-A96A-CF915ED8B78F}"/>
              </a:ext>
            </a:extLst>
          </p:cNvPr>
          <p:cNvSpPr txBox="1"/>
          <p:nvPr/>
        </p:nvSpPr>
        <p:spPr>
          <a:xfrm>
            <a:off x="5102352" y="4956048"/>
            <a:ext cx="2505456" cy="347788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en-US" sz="1300" b="1">
                <a:solidFill>
                  <a:srgbClr val="342622"/>
                </a:solidFill>
                <a:latin typeface="Arial" panose="020B0604020202020204" pitchFamily="34" charset="0"/>
              </a:rPr>
              <a:t>var/flower-models</a:t>
            </a:r>
            <a:endParaRPr lang="ru-RU" sz="1300" b="1">
              <a:solidFill>
                <a:srgbClr val="342622"/>
              </a:solidFill>
              <a:latin typeface="Arial" panose="020B0604020202020204" pitchFamily="34" charset="0"/>
            </a:endParaRP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8CE51651-E835-44CE-A319-5BC62E989C87}"/>
              </a:ext>
            </a:extLst>
          </p:cNvPr>
          <p:cNvSpPr/>
          <p:nvPr/>
        </p:nvSpPr>
        <p:spPr>
          <a:xfrm>
            <a:off x="8101584" y="4736592"/>
            <a:ext cx="3026664" cy="603504"/>
          </a:xfrm>
          <a:prstGeom prst="roundRect">
            <a:avLst/>
          </a:prstGeom>
          <a:solidFill>
            <a:srgbClr val="F8E7E2"/>
          </a:solidFill>
          <a:ln w="10160">
            <a:solidFill>
              <a:srgbClr val="F4CB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9BAF18D-9C62-491F-80E4-B82347A57E37}"/>
              </a:ext>
            </a:extLst>
          </p:cNvPr>
          <p:cNvSpPr txBox="1"/>
          <p:nvPr/>
        </p:nvSpPr>
        <p:spPr>
          <a:xfrm>
            <a:off x="8275320" y="4956048"/>
            <a:ext cx="2670048" cy="347788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en-US" sz="1300" b="1">
                <a:solidFill>
                  <a:srgbClr val="B85D70"/>
                </a:solidFill>
                <a:latin typeface="Arial" panose="020B0604020202020204" pitchFamily="34" charset="0"/>
              </a:rPr>
              <a:t>var/product-images</a:t>
            </a:r>
            <a:endParaRPr lang="ru-RU" sz="1300" b="1">
              <a:solidFill>
                <a:srgbClr val="B85D70"/>
              </a:solidFill>
              <a:latin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72D3521-1DCC-43E8-88C7-1B2A6002DDD0}"/>
              </a:ext>
            </a:extLst>
          </p:cNvPr>
          <p:cNvSpPr txBox="1"/>
          <p:nvPr/>
        </p:nvSpPr>
        <p:spPr>
          <a:xfrm>
            <a:off x="914400" y="5833872"/>
            <a:ext cx="10058400" cy="363176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400">
                <a:solidFill>
                  <a:srgbClr val="806E68"/>
                </a:solidFill>
                <a:latin typeface="Arial" panose="020B0604020202020204" pitchFamily="34" charset="0"/>
              </a:rPr>
              <a:t>Проверки качества: 63 теста  ·  </a:t>
            </a:r>
            <a:r>
              <a:rPr lang="en-US" sz="1400">
                <a:solidFill>
                  <a:srgbClr val="806E68"/>
                </a:solidFill>
                <a:latin typeface="Arial" panose="020B0604020202020204" pitchFamily="34" charset="0"/>
              </a:rPr>
              <a:t>ESLint  ·  TypeScript  ·  production build</a:t>
            </a:r>
            <a:endParaRPr lang="ru-RU" sz="1400">
              <a:solidFill>
                <a:srgbClr val="806E68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5208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7F85B6-9F65-4339-9D9D-BA714B792FEE}"/>
              </a:ext>
            </a:extLst>
          </p:cNvPr>
          <p:cNvSpPr txBox="1"/>
          <p:nvPr/>
        </p:nvSpPr>
        <p:spPr>
          <a:xfrm>
            <a:off x="594360" y="438912"/>
            <a:ext cx="3657600" cy="301621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000" b="1">
                <a:solidFill>
                  <a:srgbClr val="B85D70"/>
                </a:solidFill>
                <a:latin typeface="Arial" panose="020B0604020202020204" pitchFamily="34" charset="0"/>
              </a:rPr>
              <a:t>ИТОГ ПРАКТИКИ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19CC57-56CF-4E53-AAB4-2AE0419ABE0D}"/>
              </a:ext>
            </a:extLst>
          </p:cNvPr>
          <p:cNvSpPr txBox="1"/>
          <p:nvPr/>
        </p:nvSpPr>
        <p:spPr>
          <a:xfrm>
            <a:off x="594360" y="713232"/>
            <a:ext cx="10241280" cy="624786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3100">
                <a:solidFill>
                  <a:srgbClr val="342622"/>
                </a:solidFill>
                <a:latin typeface="Georgia" panose="02040502050405020303" pitchFamily="18" charset="0"/>
              </a:rPr>
              <a:t>Результат и дальнейшее развитие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3229EF81-D2E0-4635-837C-3AC35711DFB7}"/>
              </a:ext>
            </a:extLst>
          </p:cNvPr>
          <p:cNvCxnSpPr/>
          <p:nvPr/>
        </p:nvCxnSpPr>
        <p:spPr>
          <a:xfrm>
            <a:off x="594360" y="1389888"/>
            <a:ext cx="10972800" cy="0"/>
          </a:xfrm>
          <a:prstGeom prst="line">
            <a:avLst/>
          </a:prstGeom>
          <a:ln w="15240">
            <a:solidFill>
              <a:srgbClr val="F4CB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66CE15F-A60B-4553-A382-BFB09D8A52DD}"/>
              </a:ext>
            </a:extLst>
          </p:cNvPr>
          <p:cNvSpPr txBox="1"/>
          <p:nvPr/>
        </p:nvSpPr>
        <p:spPr>
          <a:xfrm>
            <a:off x="10835640" y="6510528"/>
            <a:ext cx="822960" cy="286232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r"/>
            <a:r>
              <a:rPr lang="en-US" sz="900" b="1">
                <a:solidFill>
                  <a:srgbClr val="B85D70"/>
                </a:solidFill>
                <a:latin typeface="Arial" panose="020B0604020202020204" pitchFamily="34" charset="0"/>
              </a:rPr>
              <a:t>LOTUS</a:t>
            </a:r>
            <a:endParaRPr lang="ru-RU" sz="900" b="1">
              <a:solidFill>
                <a:srgbClr val="B85D70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0FCA71-C0EE-46D0-9E81-DB68DEE6BD50}"/>
              </a:ext>
            </a:extLst>
          </p:cNvPr>
          <p:cNvSpPr txBox="1"/>
          <p:nvPr/>
        </p:nvSpPr>
        <p:spPr>
          <a:xfrm>
            <a:off x="438912" y="6510528"/>
            <a:ext cx="320040" cy="286232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900" b="1">
                <a:solidFill>
                  <a:srgbClr val="806E68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F6963A6F-763C-4859-80E2-57D70B59DBC2}"/>
              </a:ext>
            </a:extLst>
          </p:cNvPr>
          <p:cNvSpPr/>
          <p:nvPr/>
        </p:nvSpPr>
        <p:spPr>
          <a:xfrm>
            <a:off x="658368" y="1700784"/>
            <a:ext cx="5074920" cy="3639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D8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DB621F-BD4C-42CE-88C7-59836EB79F92}"/>
              </a:ext>
            </a:extLst>
          </p:cNvPr>
          <p:cNvSpPr txBox="1"/>
          <p:nvPr/>
        </p:nvSpPr>
        <p:spPr>
          <a:xfrm>
            <a:off x="960120" y="1993392"/>
            <a:ext cx="2194560" cy="486287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2200">
                <a:solidFill>
                  <a:srgbClr val="B85D70"/>
                </a:solidFill>
                <a:latin typeface="Georgia" panose="02040502050405020303" pitchFamily="18" charset="0"/>
              </a:rPr>
              <a:t>Реализовано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45517F33-DEA7-4C6C-AFCB-25A035380F13}"/>
              </a:ext>
            </a:extLst>
          </p:cNvPr>
          <p:cNvSpPr/>
          <p:nvPr/>
        </p:nvSpPr>
        <p:spPr>
          <a:xfrm>
            <a:off x="960120" y="2633472"/>
            <a:ext cx="91440" cy="91440"/>
          </a:xfrm>
          <a:prstGeom prst="ellipse">
            <a:avLst/>
          </a:prstGeom>
          <a:solidFill>
            <a:srgbClr val="C97D72"/>
          </a:solidFill>
          <a:ln w="10160">
            <a:solidFill>
              <a:srgbClr val="C97D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EFDD9B-5927-4A68-9131-B58F5CCA35FB}"/>
              </a:ext>
            </a:extLst>
          </p:cNvPr>
          <p:cNvSpPr txBox="1"/>
          <p:nvPr/>
        </p:nvSpPr>
        <p:spPr>
          <a:xfrm>
            <a:off x="1161288" y="2578608"/>
            <a:ext cx="4114800" cy="378565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500">
                <a:solidFill>
                  <a:srgbClr val="342622"/>
                </a:solidFill>
                <a:latin typeface="Arial" panose="020B0604020202020204" pitchFamily="34" charset="0"/>
              </a:rPr>
              <a:t>единое управление заказами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464E9C05-00A6-4FF9-807E-E59E689DB7FF}"/>
              </a:ext>
            </a:extLst>
          </p:cNvPr>
          <p:cNvSpPr/>
          <p:nvPr/>
        </p:nvSpPr>
        <p:spPr>
          <a:xfrm>
            <a:off x="960120" y="3035808"/>
            <a:ext cx="91440" cy="91440"/>
          </a:xfrm>
          <a:prstGeom prst="ellipse">
            <a:avLst/>
          </a:prstGeom>
          <a:solidFill>
            <a:srgbClr val="C97D72"/>
          </a:solidFill>
          <a:ln w="10160">
            <a:solidFill>
              <a:srgbClr val="C97D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0A767D-89B5-4E7C-A712-1DA8095FEEB5}"/>
              </a:ext>
            </a:extLst>
          </p:cNvPr>
          <p:cNvSpPr txBox="1"/>
          <p:nvPr/>
        </p:nvSpPr>
        <p:spPr>
          <a:xfrm>
            <a:off x="1161288" y="2980944"/>
            <a:ext cx="4114800" cy="378565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500">
                <a:solidFill>
                  <a:srgbClr val="342622"/>
                </a:solidFill>
                <a:latin typeface="Arial" panose="020B0604020202020204" pitchFamily="34" charset="0"/>
              </a:rPr>
              <a:t>автоматическое резервирование и списание</a:t>
            </a: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61B388D9-FB59-40E9-BE3D-91826ADD0DA3}"/>
              </a:ext>
            </a:extLst>
          </p:cNvPr>
          <p:cNvSpPr/>
          <p:nvPr/>
        </p:nvSpPr>
        <p:spPr>
          <a:xfrm>
            <a:off x="960120" y="3438144"/>
            <a:ext cx="91440" cy="91440"/>
          </a:xfrm>
          <a:prstGeom prst="ellipse">
            <a:avLst/>
          </a:prstGeom>
          <a:solidFill>
            <a:srgbClr val="C97D72"/>
          </a:solidFill>
          <a:ln w="10160">
            <a:solidFill>
              <a:srgbClr val="C97D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862A61-0EDE-4D6F-A1CD-D79295E3C9F7}"/>
              </a:ext>
            </a:extLst>
          </p:cNvPr>
          <p:cNvSpPr txBox="1"/>
          <p:nvPr/>
        </p:nvSpPr>
        <p:spPr>
          <a:xfrm>
            <a:off x="1161288" y="3383280"/>
            <a:ext cx="4114800" cy="378565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500">
                <a:solidFill>
                  <a:srgbClr val="342622"/>
                </a:solidFill>
                <a:latin typeface="Arial" panose="020B0604020202020204" pitchFamily="34" charset="0"/>
              </a:rPr>
              <a:t>учёт поставщиков и поступлений</a:t>
            </a: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E0146E53-B925-48B0-91A2-B89E7D1F851A}"/>
              </a:ext>
            </a:extLst>
          </p:cNvPr>
          <p:cNvSpPr/>
          <p:nvPr/>
        </p:nvSpPr>
        <p:spPr>
          <a:xfrm>
            <a:off x="960120" y="3840480"/>
            <a:ext cx="91440" cy="91440"/>
          </a:xfrm>
          <a:prstGeom prst="ellipse">
            <a:avLst/>
          </a:prstGeom>
          <a:solidFill>
            <a:srgbClr val="C97D72"/>
          </a:solidFill>
          <a:ln w="10160">
            <a:solidFill>
              <a:srgbClr val="C97D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840E4E-E6F2-4B22-BE54-88DA117C4B5B}"/>
              </a:ext>
            </a:extLst>
          </p:cNvPr>
          <p:cNvSpPr txBox="1"/>
          <p:nvPr/>
        </p:nvSpPr>
        <p:spPr>
          <a:xfrm>
            <a:off x="1161288" y="3785616"/>
            <a:ext cx="4114800" cy="378565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500">
                <a:solidFill>
                  <a:srgbClr val="342622"/>
                </a:solidFill>
                <a:latin typeface="Arial" panose="020B0604020202020204" pitchFamily="34" charset="0"/>
              </a:rPr>
              <a:t>контроль оплаты и доставки</a:t>
            </a: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32A0978A-99E9-4113-8F6F-43BDD8392913}"/>
              </a:ext>
            </a:extLst>
          </p:cNvPr>
          <p:cNvSpPr/>
          <p:nvPr/>
        </p:nvSpPr>
        <p:spPr>
          <a:xfrm>
            <a:off x="960120" y="4242816"/>
            <a:ext cx="91440" cy="91440"/>
          </a:xfrm>
          <a:prstGeom prst="ellipse">
            <a:avLst/>
          </a:prstGeom>
          <a:solidFill>
            <a:srgbClr val="C97D72"/>
          </a:solidFill>
          <a:ln w="10160">
            <a:solidFill>
              <a:srgbClr val="C97D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112890-64D6-495A-98BF-17963AFF29DF}"/>
              </a:ext>
            </a:extLst>
          </p:cNvPr>
          <p:cNvSpPr txBox="1"/>
          <p:nvPr/>
        </p:nvSpPr>
        <p:spPr>
          <a:xfrm>
            <a:off x="1161288" y="4187952"/>
            <a:ext cx="4114800" cy="378565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500">
                <a:solidFill>
                  <a:srgbClr val="342622"/>
                </a:solidFill>
                <a:latin typeface="Arial" panose="020B0604020202020204" pitchFamily="34" charset="0"/>
              </a:rPr>
              <a:t>персональные роли и аудит</a:t>
            </a: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7E461079-CD56-4D82-AF66-FFD42732830B}"/>
              </a:ext>
            </a:extLst>
          </p:cNvPr>
          <p:cNvSpPr/>
          <p:nvPr/>
        </p:nvSpPr>
        <p:spPr>
          <a:xfrm>
            <a:off x="960120" y="4645152"/>
            <a:ext cx="91440" cy="91440"/>
          </a:xfrm>
          <a:prstGeom prst="ellipse">
            <a:avLst/>
          </a:prstGeom>
          <a:solidFill>
            <a:srgbClr val="C97D72"/>
          </a:solidFill>
          <a:ln w="10160">
            <a:solidFill>
              <a:srgbClr val="C97D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D89CC0-94D5-4EDC-8263-BA26C15F1AFF}"/>
              </a:ext>
            </a:extLst>
          </p:cNvPr>
          <p:cNvSpPr txBox="1"/>
          <p:nvPr/>
        </p:nvSpPr>
        <p:spPr>
          <a:xfrm>
            <a:off x="1161288" y="4590288"/>
            <a:ext cx="4114800" cy="378565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500">
                <a:solidFill>
                  <a:srgbClr val="342622"/>
                </a:solidFill>
                <a:latin typeface="Arial" panose="020B0604020202020204" pitchFamily="34" charset="0"/>
              </a:rPr>
              <a:t>интеграция склада с 3</a:t>
            </a:r>
            <a:r>
              <a:rPr lang="en-US" sz="1500">
                <a:solidFill>
                  <a:srgbClr val="342622"/>
                </a:solidFill>
                <a:latin typeface="Arial" panose="020B0604020202020204" pitchFamily="34" charset="0"/>
              </a:rPr>
              <a:t>D-</a:t>
            </a:r>
            <a:r>
              <a:rPr lang="ru-RU" sz="1500">
                <a:solidFill>
                  <a:srgbClr val="342622"/>
                </a:solidFill>
                <a:latin typeface="Arial" panose="020B0604020202020204" pitchFamily="34" charset="0"/>
              </a:rPr>
              <a:t>конструктором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924303FB-ABC8-4784-9DD4-589ED3F2F230}"/>
              </a:ext>
            </a:extLst>
          </p:cNvPr>
          <p:cNvSpPr/>
          <p:nvPr/>
        </p:nvSpPr>
        <p:spPr>
          <a:xfrm>
            <a:off x="6071616" y="1700784"/>
            <a:ext cx="5084064" cy="3639312"/>
          </a:xfrm>
          <a:prstGeom prst="roundRect">
            <a:avLst/>
          </a:prstGeom>
          <a:solidFill>
            <a:srgbClr val="F8E7E2"/>
          </a:solidFill>
          <a:ln w="10160">
            <a:solidFill>
              <a:srgbClr val="F4CB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F99098-8A6D-4074-9B75-3F69ACD406CB}"/>
              </a:ext>
            </a:extLst>
          </p:cNvPr>
          <p:cNvSpPr txBox="1"/>
          <p:nvPr/>
        </p:nvSpPr>
        <p:spPr>
          <a:xfrm>
            <a:off x="6364224" y="1993392"/>
            <a:ext cx="2468880" cy="824841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2200">
                <a:solidFill>
                  <a:srgbClr val="B85D70"/>
                </a:solidFill>
                <a:latin typeface="Georgia" panose="02040502050405020303" pitchFamily="18" charset="0"/>
              </a:rPr>
              <a:t>Следующие этапы</a:t>
            </a:r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6E1BFBAB-C40F-47AC-9326-ACCEAC8A919A}"/>
              </a:ext>
            </a:extLst>
          </p:cNvPr>
          <p:cNvSpPr/>
          <p:nvPr/>
        </p:nvSpPr>
        <p:spPr>
          <a:xfrm>
            <a:off x="6382512" y="2633472"/>
            <a:ext cx="91440" cy="91440"/>
          </a:xfrm>
          <a:prstGeom prst="ellipse">
            <a:avLst/>
          </a:prstGeom>
          <a:solidFill>
            <a:srgbClr val="C97D72"/>
          </a:solidFill>
          <a:ln w="10160">
            <a:solidFill>
              <a:srgbClr val="C97D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4952AC-BF2D-49B1-A43C-E6D52CEA95C6}"/>
              </a:ext>
            </a:extLst>
          </p:cNvPr>
          <p:cNvSpPr txBox="1"/>
          <p:nvPr/>
        </p:nvSpPr>
        <p:spPr>
          <a:xfrm>
            <a:off x="6583680" y="2578608"/>
            <a:ext cx="4114800" cy="378565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500">
                <a:solidFill>
                  <a:srgbClr val="342622"/>
                </a:solidFill>
                <a:latin typeface="Arial" panose="020B0604020202020204" pitchFamily="34" charset="0"/>
              </a:rPr>
              <a:t>пагинация больших списков</a:t>
            </a:r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A8D1F19C-0F03-45D7-AB65-0A2F3D2E56E8}"/>
              </a:ext>
            </a:extLst>
          </p:cNvPr>
          <p:cNvSpPr/>
          <p:nvPr/>
        </p:nvSpPr>
        <p:spPr>
          <a:xfrm>
            <a:off x="6382512" y="3090672"/>
            <a:ext cx="91440" cy="91440"/>
          </a:xfrm>
          <a:prstGeom prst="ellipse">
            <a:avLst/>
          </a:prstGeom>
          <a:solidFill>
            <a:srgbClr val="C97D72"/>
          </a:solidFill>
          <a:ln w="10160">
            <a:solidFill>
              <a:srgbClr val="C97D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7E84A8-6A47-4EB7-8D1E-9BD03049ECE9}"/>
              </a:ext>
            </a:extLst>
          </p:cNvPr>
          <p:cNvSpPr txBox="1"/>
          <p:nvPr/>
        </p:nvSpPr>
        <p:spPr>
          <a:xfrm>
            <a:off x="6583680" y="3035808"/>
            <a:ext cx="4114800" cy="378565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500">
                <a:solidFill>
                  <a:srgbClr val="342622"/>
                </a:solidFill>
                <a:latin typeface="Arial" panose="020B0604020202020204" pitchFamily="34" charset="0"/>
              </a:rPr>
              <a:t>автоматические проверки через </a:t>
            </a:r>
            <a:r>
              <a:rPr lang="en-US" sz="1500">
                <a:solidFill>
                  <a:srgbClr val="342622"/>
                </a:solidFill>
                <a:latin typeface="Arial" panose="020B0604020202020204" pitchFamily="34" charset="0"/>
              </a:rPr>
              <a:t>CI</a:t>
            </a:r>
            <a:endParaRPr lang="ru-RU" sz="1500">
              <a:solidFill>
                <a:srgbClr val="342622"/>
              </a:solidFill>
              <a:latin typeface="Arial" panose="020B0604020202020204" pitchFamily="34" charset="0"/>
            </a:endParaRPr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9E646955-0F3D-41F5-B9E2-AD9D6CF75C0A}"/>
              </a:ext>
            </a:extLst>
          </p:cNvPr>
          <p:cNvSpPr/>
          <p:nvPr/>
        </p:nvSpPr>
        <p:spPr>
          <a:xfrm>
            <a:off x="6382512" y="3547872"/>
            <a:ext cx="91440" cy="91440"/>
          </a:xfrm>
          <a:prstGeom prst="ellipse">
            <a:avLst/>
          </a:prstGeom>
          <a:solidFill>
            <a:srgbClr val="C97D72"/>
          </a:solidFill>
          <a:ln w="10160">
            <a:solidFill>
              <a:srgbClr val="C97D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94166EF-0E9C-42AE-8F81-56B699489A5A}"/>
              </a:ext>
            </a:extLst>
          </p:cNvPr>
          <p:cNvSpPr txBox="1"/>
          <p:nvPr/>
        </p:nvSpPr>
        <p:spPr>
          <a:xfrm>
            <a:off x="6583680" y="3493008"/>
            <a:ext cx="4114800" cy="378565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500">
                <a:solidFill>
                  <a:srgbClr val="342622"/>
                </a:solidFill>
                <a:latin typeface="Arial" panose="020B0604020202020204" pitchFamily="34" charset="0"/>
              </a:rPr>
              <a:t>объектное хранилище для файлов</a:t>
            </a:r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2B1F3761-8DCD-4E10-A1CC-8778BE67A33E}"/>
              </a:ext>
            </a:extLst>
          </p:cNvPr>
          <p:cNvSpPr/>
          <p:nvPr/>
        </p:nvSpPr>
        <p:spPr>
          <a:xfrm>
            <a:off x="6382512" y="4005072"/>
            <a:ext cx="91440" cy="91440"/>
          </a:xfrm>
          <a:prstGeom prst="ellipse">
            <a:avLst/>
          </a:prstGeom>
          <a:solidFill>
            <a:srgbClr val="C97D72"/>
          </a:solidFill>
          <a:ln w="10160">
            <a:solidFill>
              <a:srgbClr val="C97D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F3D3FB4-2341-466D-97EC-3F783AB6642A}"/>
              </a:ext>
            </a:extLst>
          </p:cNvPr>
          <p:cNvSpPr txBox="1"/>
          <p:nvPr/>
        </p:nvSpPr>
        <p:spPr>
          <a:xfrm>
            <a:off x="6583680" y="3950208"/>
            <a:ext cx="4114800" cy="378565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500">
                <a:solidFill>
                  <a:srgbClr val="342622"/>
                </a:solidFill>
                <a:latin typeface="Arial" panose="020B0604020202020204" pitchFamily="34" charset="0"/>
              </a:rPr>
              <a:t>регулярное резервное копирование</a:t>
            </a:r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70F0E177-11A7-43B4-8E52-6DA9E5A47511}"/>
              </a:ext>
            </a:extLst>
          </p:cNvPr>
          <p:cNvSpPr/>
          <p:nvPr/>
        </p:nvSpPr>
        <p:spPr>
          <a:xfrm>
            <a:off x="6382512" y="4462272"/>
            <a:ext cx="91440" cy="91440"/>
          </a:xfrm>
          <a:prstGeom prst="ellipse">
            <a:avLst/>
          </a:prstGeom>
          <a:solidFill>
            <a:srgbClr val="C97D72"/>
          </a:solidFill>
          <a:ln w="10160">
            <a:solidFill>
              <a:srgbClr val="C97D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6A83D69-53EC-45D1-80E8-2FA44FB03307}"/>
              </a:ext>
            </a:extLst>
          </p:cNvPr>
          <p:cNvSpPr txBox="1"/>
          <p:nvPr/>
        </p:nvSpPr>
        <p:spPr>
          <a:xfrm>
            <a:off x="6583680" y="4407408"/>
            <a:ext cx="4114800" cy="378565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500">
                <a:solidFill>
                  <a:srgbClr val="342622"/>
                </a:solidFill>
                <a:latin typeface="Arial" panose="020B0604020202020204" pitchFamily="34" charset="0"/>
              </a:rPr>
              <a:t>подготовка </a:t>
            </a:r>
            <a:r>
              <a:rPr lang="en-US" sz="1500">
                <a:solidFill>
                  <a:srgbClr val="342622"/>
                </a:solidFill>
                <a:latin typeface="Arial" panose="020B0604020202020204" pitchFamily="34" charset="0"/>
              </a:rPr>
              <a:t>production-</a:t>
            </a:r>
            <a:r>
              <a:rPr lang="ru-RU" sz="1500">
                <a:solidFill>
                  <a:srgbClr val="342622"/>
                </a:solidFill>
                <a:latin typeface="Arial" panose="020B0604020202020204" pitchFamily="34" charset="0"/>
              </a:rPr>
              <a:t>развёртывания</a:t>
            </a:r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221ECE12-E600-4406-BDCE-A287E6133BAD}"/>
              </a:ext>
            </a:extLst>
          </p:cNvPr>
          <p:cNvSpPr/>
          <p:nvPr/>
        </p:nvSpPr>
        <p:spPr>
          <a:xfrm>
            <a:off x="1280160" y="5614416"/>
            <a:ext cx="9582912" cy="566928"/>
          </a:xfrm>
          <a:prstGeom prst="roundRect">
            <a:avLst/>
          </a:prstGeom>
          <a:solidFill>
            <a:srgbClr val="C97D72"/>
          </a:solidFill>
          <a:ln w="10160">
            <a:solidFill>
              <a:srgbClr val="C97D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625FB55-CE63-4B80-9F60-D38B15FC6E9C}"/>
              </a:ext>
            </a:extLst>
          </p:cNvPr>
          <p:cNvSpPr txBox="1"/>
          <p:nvPr/>
        </p:nvSpPr>
        <p:spPr>
          <a:xfrm>
            <a:off x="1572768" y="5806440"/>
            <a:ext cx="8997696" cy="378565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pPr algn="ctr"/>
            <a:r>
              <a:rPr lang="ru-RU" sz="1500" b="1">
                <a:solidFill>
                  <a:srgbClr val="FFFFFF"/>
                </a:solidFill>
                <a:latin typeface="Arial" panose="020B0604020202020204" pitchFamily="34" charset="0"/>
              </a:rPr>
              <a:t>Lotus объединяет клиентскую часть и внутренние операции в одной проверяемой системе.</a:t>
            </a:r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66EEEA89-9D4E-4036-B345-B397A0FD111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1008" y="5230368"/>
            <a:ext cx="960120" cy="877824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6B3382D-2C49-4BA9-B100-97F7659395A9}"/>
              </a:ext>
            </a:extLst>
          </p:cNvPr>
          <p:cNvSpPr txBox="1"/>
          <p:nvPr/>
        </p:nvSpPr>
        <p:spPr>
          <a:xfrm>
            <a:off x="658368" y="6382512"/>
            <a:ext cx="2926080" cy="317010"/>
          </a:xfrm>
          <a:prstGeom prst="rect">
            <a:avLst/>
          </a:prstGeom>
          <a:noFill/>
        </p:spPr>
        <p:txBody>
          <a:bodyPr vert="horz" wrap="square" lIns="73152" tIns="73152" rIns="73152" bIns="73152" rtlCol="0" anchor="t">
            <a:spAutoFit/>
          </a:bodyPr>
          <a:lstStyle/>
          <a:p>
            <a:r>
              <a:rPr lang="ru-RU" sz="1100" i="1">
                <a:solidFill>
                  <a:srgbClr val="806E68"/>
                </a:solidFill>
                <a:latin typeface="Arial" panose="020B0604020202020204" pitchFamily="34" charset="0"/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122826809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1217</Words>
  <Application>Microsoft Office PowerPoint</Application>
  <PresentationFormat>Произвольный</PresentationFormat>
  <Paragraphs>235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Georgia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Тигран Шарифов</dc:creator>
  <cp:lastModifiedBy>Тигран Шарифов</cp:lastModifiedBy>
  <cp:revision>1</cp:revision>
  <dcterms:created xsi:type="dcterms:W3CDTF">2026-09-17T06:57:12Z</dcterms:created>
  <dcterms:modified xsi:type="dcterms:W3CDTF">2026-09-17T06:57:22Z</dcterms:modified>
</cp:coreProperties>
</file>